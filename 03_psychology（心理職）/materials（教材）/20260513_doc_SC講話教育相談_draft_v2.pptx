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86575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555BB223-4FA1-4A0C-A722-4F3A1A979C6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89038" y="1252538"/>
            <a:ext cx="450850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B16002A4-17E4-48DA-A96E-183BDEFCF9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333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78AB-1589-4CA8-BC0D-43C540E83FC0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33BF7-A6EC-4FC9-A1E7-71416598E83D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629A-A313-4FD7-8F23-72355CE9B9E1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90DC-9496-4343-BA5E-07A169BAFE88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BEE20-67FC-4649-85A0-5B321CC96F93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49AC-EC33-4BCD-9C2F-215C1C223887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5CE06-3FAE-4E94-9C24-1A0F57A4EB82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41-1B4D-493F-B3D7-FBB14A786FC8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D6-C1A0-4747-8AC7-E6CB5134B6E7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CA80-FAF6-4EE0-B73F-1C9AD9B21BC8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AFBC9-FB16-43CD-BBF9-337590CFEFF5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147BB-E7E8-472A-AD6C-355BB783A7EE}" type="datetime1">
              <a:rPr lang="en-US" altLang="ja-JP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教育相談の在り方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</a:rPr>
              <a:t>SCが大切にしていること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気づく・聴く・つなぐ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07408"/>
            <a:ext cx="640080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令和8年5月26日　岩手町立川口中学校　スクールカウンセラー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0F5D7F15-BC82-E26F-1CF6-01EFE79F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今日のゴール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15568"/>
            <a:ext cx="265176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気づく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651760" cy="146304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" y="1673352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サインを見逃さない視点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968" y="1115568"/>
            <a:ext cx="2651760" cy="4389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6128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聴く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554480"/>
            <a:ext cx="2651760" cy="146304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00984" y="1673352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安心して話せる関わり方
（今日のメイン）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115568"/>
            <a:ext cx="2651760" cy="438912"/>
          </a:xfrm>
          <a:prstGeom prst="rect">
            <a:avLst/>
          </a:prstGeom>
          <a:solidFill>
            <a:srgbClr val="378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63055" y="116128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つなぐ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1616" y="1554480"/>
            <a:ext cx="2651760" cy="146304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673352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SCへのつなぎ方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64008" cy="5669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32461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</a:rPr>
              <a:t>今日は「聴く技術（マイクロカウンセリング）」を中心に扱います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13632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400507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生徒理解・保健室経営・連携については、養護教諭の先生からもお話があります。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555555"/>
                </a:solidFill>
              </a:rPr>
              <a:t>今日のSC講話では「心理的な聴き方」の視点に特化してお伝えします。</a:t>
            </a: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5BBC14BB-97D4-A7EA-37FD-35A2C5E0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SCから見た保健室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来室する生徒のサインをどう読むか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4069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身体の訴えの裏にあるもの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17904"/>
            <a:ext cx="4069080" cy="150876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627632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「頭痛」「肅痛」→ 本当は？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・友人関係のストレス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・家庭内の問題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・学業プレッシャー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170432"/>
            <a:ext cx="4069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2161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行動のサイン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517904"/>
            <a:ext cx="4069080" cy="150876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627632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・毎日同じ時間帯に来る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・話さずに座っている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・帰りたがらない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・沈黙が多い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040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3246120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「また来た」ではなく →「何かあるかも」  症状ではなく「背景」を見る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77056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9684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SCの視点：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68496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62626"/>
                </a:solidFill>
              </a:rPr>
              <a:t>その子がこの時間・この場所に来た文脈を、一緒に想像してみる</a:t>
            </a:r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5309263D-6315-ED48-C1DA-748010B5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「聴く」とは何か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78992"/>
            <a:ext cx="3931920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24712"/>
            <a:ext cx="3794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✗  よくある誤解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26464"/>
            <a:ext cx="3931920" cy="242316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" y="155448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・アドバイスしなければ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62626"/>
                </a:solidFill>
              </a:rPr>
              <a:t>・解決策を教えなければ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62626"/>
                </a:solidFill>
              </a:rPr>
              <a:t>・何か言わなければ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62626"/>
                </a:solidFill>
              </a:rPr>
              <a:t>・沈黙はまずい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331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078992"/>
            <a:ext cx="3931920" cy="347472"/>
          </a:xfrm>
          <a:prstGeom prst="rect">
            <a:avLst/>
          </a:prstGeom>
          <a:solidFill>
            <a:srgbClr val="2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124712"/>
            <a:ext cx="3794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○  本当の「聴く」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426464"/>
            <a:ext cx="3931920" cy="2423160"/>
          </a:xfrm>
          <a:prstGeom prst="rect">
            <a:avLst/>
          </a:prstGeom>
          <a:noFill/>
          <a:ln w="19050">
            <a:solidFill>
              <a:srgbClr val="378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776" y="155448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・話し続けてもらうこと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62626"/>
                </a:solidFill>
              </a:rPr>
              <a:t>・安心感を届けること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62626"/>
                </a:solidFill>
              </a:rPr>
              <a:t>・判断しないこと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62626"/>
                </a:solidFill>
              </a:rPr>
              <a:t>・沈黙も関わりのひとつ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4087368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</a:rPr>
              <a:t>「聴く」こと自体が、すでに支援である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0916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＊解決できなくても、「聴いてもらえた」という体験が生徒の安心感をつくります。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C0F07537-84CA-3661-2889-004FD3D2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マイクロカウンセリングとは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具体的な「聴く技術」の体系（Ivey, 1971）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0432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カウンセリングで実際に使われる「関わり行動」を体系化したもの。今日は3つの技法を中心に扱います。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64208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651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最小限のはげまし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67128"/>
            <a:ext cx="2651760" cy="164592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2286000"/>
            <a:ext cx="24505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</a:rPr>
              <a:t>うなずき・「うん」・「そうなんだ」
話を止めずに促す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783080"/>
            <a:ext cx="265176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82880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感情の反映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2167128"/>
            <a:ext cx="2651760" cy="164592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82696" y="2286000"/>
            <a:ext cx="24505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</a:rPr>
              <a:t>相手の感情をことばにして返す
「それはつらかったね」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783080"/>
            <a:ext cx="2651760" cy="384048"/>
          </a:xfrm>
          <a:prstGeom prst="rect">
            <a:avLst/>
          </a:prstGeom>
          <a:solidFill>
            <a:srgbClr val="378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5" y="182880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開いた質問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167128"/>
            <a:ext cx="2651760" cy="164592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1344" y="2286000"/>
            <a:ext cx="24505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</a:rPr>
              <a:t>Yes/Noで終わらない問いかけ
「どんなことが気になってる？」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50208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050791"/>
            <a:ext cx="64008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409651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共通のゴール：「話し続けてもらうこと」「安心できる場をつくること」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6177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これらは「カウンセリングの特別な技術」ではなく、今日から保健室でも使える具体的な関わり方です。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352D95D-B57F-0CDC-2207-4C110454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① 最小限のはげまし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Minimal Encouragers  話を止めずに促す最も小さな関わり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4069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言語的なはげまし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17904"/>
            <a:ext cx="4069080" cy="39136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「うん」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2E75B6"/>
                </a:solidFill>
              </a:rPr>
              <a:t>「そうなんだ」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2E75B6"/>
                </a:solidFill>
              </a:rPr>
              <a:t>「なるほど」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2E75B6"/>
                </a:solidFill>
              </a:rPr>
              <a:t>「それで？」</a:t>
            </a:r>
          </a:p>
          <a:p>
            <a:pPr>
              <a:spcBef>
                <a:spcPts val="400"/>
              </a:spcBef>
            </a:pPr>
            <a:r>
              <a:rPr sz="600" b="0" i="0">
                <a:solidFill>
                  <a:srgbClr val="262626"/>
                </a:solidFill>
              </a:rPr>
              <a:t> </a:t>
            </a:r>
          </a:p>
          <a:p>
            <a:pPr>
              <a:spcBef>
                <a:spcPts val="400"/>
              </a:spcBef>
            </a:pPr>
            <a:r>
              <a:rPr sz="1000" b="0" i="1">
                <a:solidFill>
                  <a:srgbClr val="555555"/>
                </a:solidFill>
              </a:rPr>
              <a:t>ポイント：短く・自然に・言いすぎない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170432"/>
            <a:ext cx="4069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2161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非言語的なはげまし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517904"/>
            <a:ext cx="4069080" cy="39136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6048" y="166420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62626"/>
                </a:solidFill>
              </a:rPr>
              <a:t>うなずく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262626"/>
                </a:solidFill>
              </a:rPr>
              <a:t>アイコンタクト（柔らかく）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262626"/>
                </a:solidFill>
              </a:rPr>
              <a:t>少し前傾姿勢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262626"/>
                </a:solidFill>
              </a:rPr>
              <a:t>表情をそろえる</a:t>
            </a:r>
          </a:p>
          <a:p>
            <a:pPr>
              <a:spcBef>
                <a:spcPts val="400"/>
              </a:spcBef>
            </a:pPr>
            <a:r>
              <a:rPr sz="600" b="0" i="0">
                <a:solidFill>
                  <a:srgbClr val="262626"/>
                </a:solidFill>
              </a:rPr>
              <a:t> </a:t>
            </a:r>
          </a:p>
          <a:p>
            <a:pPr>
              <a:spcBef>
                <a:spcPts val="400"/>
              </a:spcBef>
            </a:pPr>
            <a:r>
              <a:rPr sz="1000" b="0" i="1">
                <a:solidFill>
                  <a:srgbClr val="555555"/>
                </a:solidFill>
              </a:rPr>
              <a:t>言葉以上に「聴いている」が伝わる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577840"/>
            <a:ext cx="6400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564184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目的：安心して話し続けてもらうこと。解決やアドバイスは不要。</a:t>
            </a: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5C84C945-75FB-2C02-97A6-24272D02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② 感情の反映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Reflection of Feeling  感情をことばにして返す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216152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相手が感じている感情を、こちらがことばにして伝え返すこと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10512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938528"/>
            <a:ext cx="3566160" cy="98755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0116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生徒の言葉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042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「友達に無視されてる…」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6771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38528"/>
            <a:ext cx="4206240" cy="347472"/>
          </a:xfrm>
          <a:prstGeom prst="rect">
            <a:avLst/>
          </a:prstGeom>
          <a:solidFill>
            <a:srgbClr val="378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1984248"/>
            <a:ext cx="4069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感情：悔しみ・孤独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286000"/>
            <a:ext cx="4206240" cy="64008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235915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「それはつらかったんだね」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81528"/>
            <a:ext cx="3566160" cy="98755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31546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生徒の言葉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4472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「テストのことが頭から離れない」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1071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081528"/>
            <a:ext cx="4206240" cy="347472"/>
          </a:xfrm>
          <a:prstGeom prst="rect">
            <a:avLst/>
          </a:prstGeom>
          <a:solidFill>
            <a:srgbClr val="378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79" y="3127248"/>
            <a:ext cx="4069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感情：不安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429000"/>
            <a:ext cx="4206240" cy="64008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3168" y="350215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「すごく心配なんだね」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24528"/>
            <a:ext cx="3566160" cy="98755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42976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生徒の言葉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5902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「（うつむいたまま、黙っている）」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55371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224528"/>
            <a:ext cx="4206240" cy="347472"/>
          </a:xfrm>
          <a:prstGeom prst="rect">
            <a:avLst/>
          </a:prstGeom>
          <a:solidFill>
            <a:srgbClr val="378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79" y="4270248"/>
            <a:ext cx="4069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感情：緊張・迷い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4572000"/>
            <a:ext cx="4206240" cy="640080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73168" y="464515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「なんか言いにくいことがあるのかな」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94960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5468112"/>
            <a:ext cx="8595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</a:rPr>
              <a:t>＊感情の名前を「正確に当てる」必要はない。受け止めようとする姿勢が伝わることが大切。</a:t>
            </a:r>
          </a:p>
        </p:txBody>
      </p:sp>
      <p:sp>
        <p:nvSpPr>
          <p:cNvPr id="34" name="スライド番号プレースホルダー 33">
            <a:extLst>
              <a:ext uri="{FF2B5EF4-FFF2-40B4-BE49-F238E27FC236}">
                <a16:creationId xmlns:a16="http://schemas.microsoft.com/office/drawing/2014/main" id="{37423DEE-2828-4102-7F78-80F22231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③ 開いた質問 と 閉じた質問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Open / Closed Question  問いの種類で会話の広がりが変わる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4023360" cy="36576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閉じた質問（Yes/Noで答えられる）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70432"/>
            <a:ext cx="4023360" cy="365760"/>
          </a:xfrm>
          <a:prstGeom prst="rect">
            <a:avLst/>
          </a:prstGeom>
          <a:solidFill>
            <a:srgbClr val="2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59" y="1216152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開いた質問（自由に話せる）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82496"/>
            <a:ext cx="4023360" cy="86868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「友達とけんかした？」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682496"/>
            <a:ext cx="4023360" cy="868680"/>
          </a:xfrm>
          <a:prstGeom prst="rect">
            <a:avLst/>
          </a:prstGeom>
          <a:noFill/>
          <a:ln w="12700">
            <a:solidFill>
              <a:srgbClr val="378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6048" y="184708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「友達のこと、どんなことが気になってる？」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88336"/>
            <a:ext cx="4023360" cy="86868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85292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「つらい？」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688336"/>
            <a:ext cx="4023360" cy="868680"/>
          </a:xfrm>
          <a:prstGeom prst="rect">
            <a:avLst/>
          </a:prstGeom>
          <a:noFill/>
          <a:ln w="12700">
            <a:solidFill>
              <a:srgbClr val="378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285292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「今、どんな気持ちでいる？」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94176"/>
            <a:ext cx="4023360" cy="86868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38587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「ちゃんと寝てる？」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694176"/>
            <a:ext cx="4023360" cy="868680"/>
          </a:xfrm>
          <a:prstGeom prst="rect">
            <a:avLst/>
          </a:prstGeom>
          <a:noFill/>
          <a:ln w="12700">
            <a:solidFill>
              <a:srgbClr val="378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38587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「最近、夜はどんなふうに過ごしてる？」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73168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892040"/>
            <a:ext cx="64008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4937760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</a:rPr>
              <a:t>開いた質問は「話す余地」を与える。ただし使いすぎると尋問になるので注意。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46811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バランスが大切：開いた質問で話を広げ、閉じた質問で事実を確認する</a:t>
            </a:r>
          </a:p>
        </p:txBody>
      </p:sp>
      <p:sp>
        <p:nvSpPr>
          <p:cNvPr id="25" name="スライド番号プレースホルダー 24">
            <a:extLst>
              <a:ext uri="{FF2B5EF4-FFF2-40B4-BE49-F238E27FC236}">
                <a16:creationId xmlns:a16="http://schemas.microsoft.com/office/drawing/2014/main" id="{EE35E232-B844-A01C-E459-4D1240EC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ミニロールプレイ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技法を実際に使ってみよう（2分）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85953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8458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場面設定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17904"/>
            <a:ext cx="8595360" cy="98755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591056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授業中にお腹が痛いといって保健室に来た中2の女子生徒。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62626"/>
                </a:solidFill>
              </a:rPr>
              <a:t>横になっているうちに少し話せる様子になり、ぼつりとつぶやいた。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E75B6"/>
                </a:solidFill>
              </a:rPr>
              <a:t>「…最近、学校来るのがしんどくて」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24328"/>
            <a:ext cx="64008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267004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あなたなら、どう返しますか？　→　書いてみましょう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46120"/>
            <a:ext cx="26517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291839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① 最小限のはげまし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93592"/>
            <a:ext cx="2651760" cy="91440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72968" y="3246120"/>
            <a:ext cx="2651760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64408" y="3291839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② 感情の反映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3593592"/>
            <a:ext cx="2651760" cy="91440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71616" y="3246120"/>
            <a:ext cx="2651760" cy="347472"/>
          </a:xfrm>
          <a:prstGeom prst="rect">
            <a:avLst/>
          </a:prstGeom>
          <a:solidFill>
            <a:srgbClr val="378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63055" y="3291839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③ 開いた質問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3593592"/>
            <a:ext cx="2651760" cy="91440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69087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ロールプレイのポイント：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99262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・正解はない。「どうしようと思ったか」のプロセスが大事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・やってみた感覚（難しかった／自然だったなど）も大切な気づき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5E1F465C-7A61-8E32-0181-E8FAB9A5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いつ・どうやってSCにつなぐか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タイミングの見極めと声かけの実際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85953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8458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こんなときはSCへ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64208"/>
            <a:ext cx="2011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837944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継続する悩み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664208"/>
            <a:ext cx="6583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95728" y="1819656"/>
            <a:ext cx="6355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同じ問題が何週間も続いている、保健室来室が長期化している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2011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688336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深刻なサイン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514600"/>
            <a:ext cx="6583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95728" y="2670048"/>
            <a:ext cx="6355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自傷・希死念慮の言及、不登校の始まり、強い情緒不安定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64992"/>
            <a:ext cx="2011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538728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家庭環境の問題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364992"/>
            <a:ext cx="6583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95728" y="3520440"/>
            <a:ext cx="6355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保護者関係・経済的困難など → SCまたはSSW（スクールソーシャルワーカー）に相談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15384"/>
            <a:ext cx="2011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389120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本人の希望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215384"/>
            <a:ext cx="6583680" cy="713232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95728" y="4370832"/>
            <a:ext cx="6355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「もっと話したい」「誰かに聆いてほしい」という意思がある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38928"/>
            <a:ext cx="64008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518464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</a:rPr>
              <a:t>SSW（スクールソーシャルワーカー）とは？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5468112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福祉の視点から家庭・地域・関係機関と学校をつなぐ専門職。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62626"/>
                </a:solidFill>
              </a:rPr>
              <a:t>経済・虹待・養育など、環境面からのアプローチが必要なときに連携します。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035040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0990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声かけ例：「もう少し詳しく聆いてくれる先生がいるんだけど、一緒に話してみる？」</a:t>
            </a:r>
          </a:p>
        </p:txBody>
      </p:sp>
      <p:sp>
        <p:nvSpPr>
          <p:cNvPr id="28" name="スライド番号プレースホルダー 27">
            <a:extLst>
              <a:ext uri="{FF2B5EF4-FFF2-40B4-BE49-F238E27FC236}">
                <a16:creationId xmlns:a16="http://schemas.microsoft.com/office/drawing/2014/main" id="{AA432A7B-DAF5-7B0B-ABAC-9FB16CBA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養護教諭とSCの連携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それぞれの強みを活かすチーム支援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4023360" cy="365760"/>
          </a:xfrm>
          <a:prstGeom prst="rect">
            <a:avLst/>
          </a:prstGeom>
          <a:solidFill>
            <a:srgbClr val="17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養護教諭の強み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70432"/>
            <a:ext cx="40233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59" y="1216152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SCの強み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82496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8013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・毎日そこにいる安心感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682496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6048" y="18013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・専門的な面談時間（週１～２回）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40864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4597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・身体的ケアとの一体対応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340864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24597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・心理アセスメントの視点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9232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31181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・全生徒の状態を把握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999232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31181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・守秘義務による安心した開示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57600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37764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・保護者・担任との日常連携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657600"/>
            <a:ext cx="4023360" cy="566928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56048" y="37764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・外部機関との連携知識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70832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48056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4544568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「一人で抱えない」  情報を共有しながら、チームで支える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13892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情報共有のポイント：「事実」と「SCの解釈」を分けて伝える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555555"/>
                </a:solidFill>
              </a:rPr>
              <a:t>守秘義務：原則として本人の同意のもとで共有（緊急性がある場合は除く）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A45EF9D9-DB04-641B-9EBD-54D74343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今日のまとめ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70432"/>
            <a:ext cx="2468880" cy="113385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16152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最小限のはげまし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170432"/>
            <a:ext cx="6126480" cy="1133856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71216" y="1517904"/>
            <a:ext cx="5870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うなずき・「うん」「そうなんだ」で話を促す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50591"/>
            <a:ext cx="2468880" cy="11338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496311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感情の反映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450591"/>
            <a:ext cx="6126480" cy="1133856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71216" y="2798063"/>
            <a:ext cx="5870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「それはつらかったね」感情をことばにして返す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30752"/>
            <a:ext cx="2468880" cy="1133856"/>
          </a:xfrm>
          <a:prstGeom prst="rect">
            <a:avLst/>
          </a:prstGeom>
          <a:solidFill>
            <a:srgbClr val="378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776472"/>
            <a:ext cx="2331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開いた質問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730752"/>
            <a:ext cx="6126480" cy="1133856"/>
          </a:xfrm>
          <a:prstGeom prst="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71216" y="4078224"/>
            <a:ext cx="5870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「どんなことが気になってる？」話す余地をつくる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29200"/>
            <a:ext cx="859536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5138928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5193792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</a:rPr>
              <a:t>共通のゴール：「安心して話し続けてもらうこと」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760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この3つは今日から保健室でも使える関わり方です。</a:t>
            </a: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1B4A8350-FEC7-D939-AB39-62E3B344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00200"/>
            <a:ext cx="822960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2626"/>
                </a:solidFill>
              </a:rPr>
              <a:t>保健室は
「問題を解決する場所」ではなく、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</a:rPr>
              <a:t>「安心して出発できる場所」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069080"/>
            <a:ext cx="8229600" cy="914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</a:rPr>
              <a:t>その場所を一緒につくっていきましょう。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川口中学校　スクールカウンセラー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FFCB1E-1B18-A2A7-38AC-15FFDF7C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591</Words>
  <Application>Microsoft Office PowerPoint</Application>
  <PresentationFormat>画面に合わせる (4:3)</PresentationFormat>
  <Paragraphs>171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紗希 新田</cp:lastModifiedBy>
  <cp:revision>2</cp:revision>
  <cp:lastPrinted>2026-05-13T04:42:25Z</cp:lastPrinted>
  <dcterms:created xsi:type="dcterms:W3CDTF">2013-01-27T09:14:16Z</dcterms:created>
  <dcterms:modified xsi:type="dcterms:W3CDTF">2026-05-13T04:44:31Z</dcterms:modified>
  <cp:category/>
</cp:coreProperties>
</file>