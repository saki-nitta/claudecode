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</p:sldIdLst>
  <p:sldSz cx="6858000" cy="9906000" type="A4"/>
  <p:notesSz cx="6886575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B4AA"/>
    <a:srgbClr val="C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>
        <p:scale>
          <a:sx n="60" d="100"/>
          <a:sy n="60" d="100"/>
        </p:scale>
        <p:origin x="2055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4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70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44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779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154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41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2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29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829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968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46BC7-9387-4400-AA6E-A2B0AAB5CA24}" type="datetimeFigureOut">
              <a:rPr kumimoji="1" lang="ja-JP" altLang="en-US" smtClean="0"/>
              <a:t>2024/4/3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3DED9-5CA7-4CEA-9E5F-FA7238B1AC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75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673AB96-5477-591D-6267-4C1978AA960D}"/>
              </a:ext>
            </a:extLst>
          </p:cNvPr>
          <p:cNvSpPr/>
          <p:nvPr/>
        </p:nvSpPr>
        <p:spPr>
          <a:xfrm>
            <a:off x="4255277" y="7317962"/>
            <a:ext cx="2081116" cy="687064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A1989CC-87D1-4BA4-39FF-A4F09F20ACCA}"/>
              </a:ext>
            </a:extLst>
          </p:cNvPr>
          <p:cNvSpPr txBox="1"/>
          <p:nvPr/>
        </p:nvSpPr>
        <p:spPr>
          <a:xfrm>
            <a:off x="4235075" y="7358695"/>
            <a:ext cx="207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b="1" dirty="0">
                <a:latin typeface="+mj-ea"/>
                <a:ea typeface="+mj-ea"/>
                <a:cs typeface="Times New Roman" panose="02020603050405020304" pitchFamily="18" charset="0"/>
              </a:rPr>
              <a:t>申請限度額　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225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万円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b="1" dirty="0">
                <a:latin typeface="+mj-ea"/>
                <a:ea typeface="+mj-ea"/>
                <a:cs typeface="Times New Roman" panose="02020603050405020304" pitchFamily="18" charset="0"/>
              </a:rPr>
              <a:t>助成限度額　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150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万円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　　　　　　 （申請額の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2/3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クラウドファンディングも検討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B44CF71-6F6C-94B6-7119-C57936DAF81F}"/>
              </a:ext>
            </a:extLst>
          </p:cNvPr>
          <p:cNvSpPr/>
          <p:nvPr/>
        </p:nvSpPr>
        <p:spPr>
          <a:xfrm>
            <a:off x="547654" y="7317962"/>
            <a:ext cx="3476439" cy="2246815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9B868CC-5A7B-9FCC-777A-6E702576C27C}"/>
              </a:ext>
            </a:extLst>
          </p:cNvPr>
          <p:cNvSpPr/>
          <p:nvPr/>
        </p:nvSpPr>
        <p:spPr>
          <a:xfrm>
            <a:off x="521605" y="1436670"/>
            <a:ext cx="4331206" cy="464454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92590E-28A8-08BB-991E-047B491626F5}"/>
              </a:ext>
            </a:extLst>
          </p:cNvPr>
          <p:cNvSpPr txBox="1"/>
          <p:nvPr/>
        </p:nvSpPr>
        <p:spPr>
          <a:xfrm>
            <a:off x="521605" y="1958286"/>
            <a:ext cx="1459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2.</a:t>
            </a:r>
            <a:r>
              <a:rPr kumimoji="1" lang="ja-JP" altLang="en-US" sz="1100" b="1" dirty="0"/>
              <a:t>ニーズと対策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0F7E8C7-BA6B-D83F-9432-E0D42B9998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43" b="26153"/>
          <a:stretch/>
        </p:blipFill>
        <p:spPr bwMode="auto">
          <a:xfrm>
            <a:off x="4234295" y="8775980"/>
            <a:ext cx="594605" cy="78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EC2C5DDC-E01B-2842-50EE-215DF9192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591653"/>
              </p:ext>
            </p:extLst>
          </p:nvPr>
        </p:nvGraphicFramePr>
        <p:xfrm>
          <a:off x="621545" y="7414219"/>
          <a:ext cx="3329568" cy="1975617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635257">
                  <a:extLst>
                    <a:ext uri="{9D8B030D-6E8A-4147-A177-3AD203B41FA5}">
                      <a16:colId xmlns:a16="http://schemas.microsoft.com/office/drawing/2014/main" val="4287366717"/>
                    </a:ext>
                  </a:extLst>
                </a:gridCol>
                <a:gridCol w="473754">
                  <a:extLst>
                    <a:ext uri="{9D8B030D-6E8A-4147-A177-3AD203B41FA5}">
                      <a16:colId xmlns:a16="http://schemas.microsoft.com/office/drawing/2014/main" val="2568532449"/>
                    </a:ext>
                  </a:extLst>
                </a:gridCol>
                <a:gridCol w="442026">
                  <a:extLst>
                    <a:ext uri="{9D8B030D-6E8A-4147-A177-3AD203B41FA5}">
                      <a16:colId xmlns:a16="http://schemas.microsoft.com/office/drawing/2014/main" val="2134573808"/>
                    </a:ext>
                  </a:extLst>
                </a:gridCol>
                <a:gridCol w="517013">
                  <a:extLst>
                    <a:ext uri="{9D8B030D-6E8A-4147-A177-3AD203B41FA5}">
                      <a16:colId xmlns:a16="http://schemas.microsoft.com/office/drawing/2014/main" val="1750548206"/>
                    </a:ext>
                  </a:extLst>
                </a:gridCol>
                <a:gridCol w="485439">
                  <a:extLst>
                    <a:ext uri="{9D8B030D-6E8A-4147-A177-3AD203B41FA5}">
                      <a16:colId xmlns:a16="http://schemas.microsoft.com/office/drawing/2014/main" val="1129168947"/>
                    </a:ext>
                  </a:extLst>
                </a:gridCol>
                <a:gridCol w="776079">
                  <a:extLst>
                    <a:ext uri="{9D8B030D-6E8A-4147-A177-3AD203B41FA5}">
                      <a16:colId xmlns:a16="http://schemas.microsoft.com/office/drawing/2014/main" val="318640288"/>
                    </a:ext>
                  </a:extLst>
                </a:gridCol>
              </a:tblGrid>
              <a:tr h="116058">
                <a:tc rowSpan="2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実施項目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助成事業実施期間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具体的な取組方法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32442"/>
                  </a:ext>
                </a:extLst>
              </a:tr>
              <a:tr h="202751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1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(4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6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2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(7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9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3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(10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12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4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(1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3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375518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工業技術</a:t>
                      </a:r>
                      <a:endParaRPr lang="en-US" altLang="ja-JP" sz="800" b="0" kern="100" dirty="0">
                        <a:effectLst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センターでの試作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レーザー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彫刻機</a:t>
                      </a:r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で加工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644023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木工所での試作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製材から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仕上げ</a:t>
                      </a:r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まで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16505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パッケージ</a:t>
                      </a: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デザイン</a:t>
                      </a: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付録含む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18595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テスト</a:t>
                      </a: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マーケティング</a:t>
                      </a: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サンプル配布、</a:t>
                      </a:r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アンケート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実施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2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製品の</a:t>
                      </a:r>
                      <a:endParaRPr lang="en-US" altLang="ja-JP" sz="800" b="0" kern="100" dirty="0">
                        <a:effectLst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修正・完成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初期ロット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生産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59103"/>
                  </a:ext>
                </a:extLst>
              </a:tr>
            </a:tbl>
          </a:graphicData>
        </a:graphic>
      </p:graphicFrame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5264FEB4-37A6-DC8F-9878-44DFBAE6591D}"/>
              </a:ext>
            </a:extLst>
          </p:cNvPr>
          <p:cNvGrpSpPr/>
          <p:nvPr/>
        </p:nvGrpSpPr>
        <p:grpSpPr>
          <a:xfrm>
            <a:off x="1308777" y="8032317"/>
            <a:ext cx="1862727" cy="1259588"/>
            <a:chOff x="3419248" y="3429000"/>
            <a:chExt cx="2690606" cy="1819404"/>
          </a:xfrm>
        </p:grpSpPr>
        <p:sp>
          <p:nvSpPr>
            <p:cNvPr id="16" name="直線矢印コネクタ 1">
              <a:extLst>
                <a:ext uri="{FF2B5EF4-FFF2-40B4-BE49-F238E27FC236}">
                  <a16:creationId xmlns:a16="http://schemas.microsoft.com/office/drawing/2014/main" id="{8429189B-17AB-EF91-139B-70EB6F341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4257" y="3429000"/>
              <a:ext cx="676275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 dirty="0"/>
            </a:p>
          </p:txBody>
        </p:sp>
        <p:sp>
          <p:nvSpPr>
            <p:cNvPr id="17" name="AutoShape 4">
              <a:extLst>
                <a:ext uri="{FF2B5EF4-FFF2-40B4-BE49-F238E27FC236}">
                  <a16:creationId xmlns:a16="http://schemas.microsoft.com/office/drawing/2014/main" id="{D9EABDF7-9193-44A9-DEB7-DEF4B1585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1670" y="3855762"/>
              <a:ext cx="68580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712C2155-E1AE-FFB8-037C-453775976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9248" y="4295963"/>
              <a:ext cx="219551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 dirty="0"/>
            </a:p>
          </p:txBody>
        </p:sp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89CE7AE1-3B93-61B4-7FBF-E48EDE8D9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790" y="4791416"/>
              <a:ext cx="690563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  <p:sp>
          <p:nvSpPr>
            <p:cNvPr id="21" name="AutoShape 4">
              <a:extLst>
                <a:ext uri="{FF2B5EF4-FFF2-40B4-BE49-F238E27FC236}">
                  <a16:creationId xmlns:a16="http://schemas.microsoft.com/office/drawing/2014/main" id="{E9E1C279-B5A6-4797-AD17-7018735D4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053" y="5248404"/>
              <a:ext cx="68580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96E18F5-BB89-15E2-5493-AE9F42CA95A4}"/>
              </a:ext>
            </a:extLst>
          </p:cNvPr>
          <p:cNvSpPr txBox="1"/>
          <p:nvPr/>
        </p:nvSpPr>
        <p:spPr>
          <a:xfrm>
            <a:off x="521605" y="1166026"/>
            <a:ext cx="1378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1.</a:t>
            </a:r>
            <a:r>
              <a:rPr kumimoji="1" lang="ja-JP" altLang="en-US" sz="1100" b="1" dirty="0"/>
              <a:t>テーマ</a:t>
            </a:r>
            <a:endParaRPr kumimoji="1" lang="en-US" altLang="ja-JP" sz="11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3A57EA3-D550-5F46-DFA3-DBD9A365A1A9}"/>
              </a:ext>
            </a:extLst>
          </p:cNvPr>
          <p:cNvSpPr txBox="1"/>
          <p:nvPr/>
        </p:nvSpPr>
        <p:spPr>
          <a:xfrm>
            <a:off x="5230926" y="1411150"/>
            <a:ext cx="10987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900" dirty="0">
                <a:latin typeface="+mj-ea"/>
                <a:ea typeface="+mj-ea"/>
              </a:rPr>
              <a:t>作成</a:t>
            </a:r>
            <a:endParaRPr kumimoji="1" lang="en-US" altLang="ja-JP" sz="900" dirty="0">
              <a:latin typeface="+mj-ea"/>
              <a:ea typeface="+mj-ea"/>
            </a:endParaRPr>
          </a:p>
          <a:p>
            <a:pPr algn="r"/>
            <a:r>
              <a:rPr kumimoji="1" lang="ja-JP" altLang="en-US" sz="900" dirty="0">
                <a:latin typeface="+mj-ea"/>
                <a:ea typeface="+mj-ea"/>
              </a:rPr>
              <a:t>とうめいしっぽ</a:t>
            </a:r>
            <a:endParaRPr kumimoji="1" lang="en-US" altLang="ja-JP" sz="900" dirty="0">
              <a:latin typeface="+mj-ea"/>
              <a:ea typeface="+mj-ea"/>
            </a:endParaRPr>
          </a:p>
          <a:p>
            <a:pPr algn="r"/>
            <a:r>
              <a:rPr kumimoji="1" lang="ja-JP" altLang="en-US" sz="900" dirty="0">
                <a:latin typeface="+mj-ea"/>
                <a:ea typeface="+mj-ea"/>
              </a:rPr>
              <a:t>新田紗希</a:t>
            </a:r>
            <a:endParaRPr kumimoji="1" lang="en-US" altLang="ja-JP" sz="900" dirty="0">
              <a:latin typeface="+mj-ea"/>
              <a:ea typeface="+mj-ea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64C58F5-66A4-1313-0E62-5AE6599CE365}"/>
              </a:ext>
            </a:extLst>
          </p:cNvPr>
          <p:cNvSpPr txBox="1"/>
          <p:nvPr/>
        </p:nvSpPr>
        <p:spPr>
          <a:xfrm>
            <a:off x="5715588" y="334904"/>
            <a:ext cx="742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>
                <a:latin typeface="+mj-ea"/>
                <a:ea typeface="+mj-ea"/>
              </a:rPr>
              <a:t>2024/4/4</a:t>
            </a:r>
            <a:endParaRPr kumimoji="1" lang="ja-JP" altLang="en-US" sz="900" dirty="0">
              <a:latin typeface="+mj-ea"/>
              <a:ea typeface="+mj-ea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1D7E12F-58CC-4C0D-EDDF-C5CD002E03A7}"/>
              </a:ext>
            </a:extLst>
          </p:cNvPr>
          <p:cNvSpPr txBox="1"/>
          <p:nvPr/>
        </p:nvSpPr>
        <p:spPr>
          <a:xfrm>
            <a:off x="621676" y="1532124"/>
            <a:ext cx="3482094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46" dirty="0"/>
              <a:t>100</a:t>
            </a:r>
            <a:r>
              <a:rPr kumimoji="1" lang="ja-JP" altLang="en-US" sz="1246" dirty="0"/>
              <a:t>年遊べるマルチコインを、岩手の木で！</a:t>
            </a:r>
            <a:endParaRPr kumimoji="1" lang="en-US" altLang="ja-JP" sz="1246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409FA99-95B2-22AE-4A72-A10F9B514A1F}"/>
              </a:ext>
            </a:extLst>
          </p:cNvPr>
          <p:cNvSpPr txBox="1"/>
          <p:nvPr/>
        </p:nvSpPr>
        <p:spPr>
          <a:xfrm>
            <a:off x="521605" y="7097085"/>
            <a:ext cx="1169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8.</a:t>
            </a:r>
            <a:r>
              <a:rPr kumimoji="1" lang="ja-JP" altLang="en-US" sz="1100" b="1" dirty="0"/>
              <a:t>スケジュール</a:t>
            </a:r>
            <a:endParaRPr kumimoji="1" lang="en-US" altLang="ja-JP" sz="1100" b="1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EF0790E-93EC-28F1-9BE5-009BA71B43D1}"/>
              </a:ext>
            </a:extLst>
          </p:cNvPr>
          <p:cNvSpPr txBox="1"/>
          <p:nvPr/>
        </p:nvSpPr>
        <p:spPr>
          <a:xfrm>
            <a:off x="4172991" y="7097085"/>
            <a:ext cx="1169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9.</a:t>
            </a:r>
            <a:r>
              <a:rPr kumimoji="1" lang="ja-JP" altLang="en-US" sz="1100" b="1" dirty="0"/>
              <a:t>費用</a:t>
            </a:r>
            <a:endParaRPr kumimoji="1" lang="en-US" altLang="ja-JP" sz="1100" b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F8FC85D-3D94-3A61-C6A0-2023C0574E17}"/>
              </a:ext>
            </a:extLst>
          </p:cNvPr>
          <p:cNvSpPr txBox="1"/>
          <p:nvPr/>
        </p:nvSpPr>
        <p:spPr>
          <a:xfrm>
            <a:off x="1262635" y="738280"/>
            <a:ext cx="4332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/>
              <a:t>令和</a:t>
            </a:r>
            <a:r>
              <a:rPr kumimoji="1" lang="en-US" altLang="ja-JP" sz="1100" b="1" dirty="0"/>
              <a:t>6</a:t>
            </a:r>
            <a:r>
              <a:rPr kumimoji="1" lang="ja-JP" altLang="en-US" sz="1100" b="1" dirty="0"/>
              <a:t>年度岩手希望応援ファンド</a:t>
            </a:r>
            <a:endParaRPr kumimoji="1" lang="en-US" altLang="ja-JP" sz="1100" b="1" dirty="0"/>
          </a:p>
          <a:p>
            <a:pPr algn="ctr"/>
            <a:r>
              <a:rPr kumimoji="1" lang="ja-JP" altLang="en-US" sz="1100" b="1" dirty="0"/>
              <a:t>助成事業申請に向けての情報共有</a:t>
            </a:r>
            <a:endParaRPr kumimoji="1" lang="en-US" altLang="ja-JP" sz="1100" b="1" dirty="0"/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BED097E3-BCF0-6131-493B-9BAD529F3BD3}"/>
              </a:ext>
            </a:extLst>
          </p:cNvPr>
          <p:cNvGrpSpPr/>
          <p:nvPr/>
        </p:nvGrpSpPr>
        <p:grpSpPr>
          <a:xfrm>
            <a:off x="513170" y="5733542"/>
            <a:ext cx="6021968" cy="1338462"/>
            <a:chOff x="513170" y="3534524"/>
            <a:chExt cx="6021968" cy="1338462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E2D76EC3-46BB-247F-5EBA-147777F277FD}"/>
                </a:ext>
              </a:extLst>
            </p:cNvPr>
            <p:cNvSpPr/>
            <p:nvPr/>
          </p:nvSpPr>
          <p:spPr>
            <a:xfrm>
              <a:off x="558050" y="3761934"/>
              <a:ext cx="2393986" cy="1103868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033762AD-F0DB-82B7-CABC-2ECC47016817}"/>
                </a:ext>
              </a:extLst>
            </p:cNvPr>
            <p:cNvSpPr txBox="1"/>
            <p:nvPr/>
          </p:nvSpPr>
          <p:spPr>
            <a:xfrm>
              <a:off x="521605" y="3534524"/>
              <a:ext cx="14363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6.</a:t>
              </a:r>
              <a:r>
                <a:rPr kumimoji="1" lang="ja-JP" altLang="en-US" sz="1100" b="1" dirty="0"/>
                <a:t>現状</a:t>
              </a:r>
              <a:endParaRPr kumimoji="1" lang="en-US" altLang="ja-JP" sz="1100" b="1" dirty="0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F51EAF25-30B1-1E64-B494-977F63846439}"/>
                </a:ext>
              </a:extLst>
            </p:cNvPr>
            <p:cNvSpPr/>
            <p:nvPr/>
          </p:nvSpPr>
          <p:spPr>
            <a:xfrm>
              <a:off x="3076392" y="3761934"/>
              <a:ext cx="3253691" cy="1100870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3391775D-70E4-947E-67EC-7F6AA5C856B8}"/>
                </a:ext>
              </a:extLst>
            </p:cNvPr>
            <p:cNvSpPr txBox="1"/>
            <p:nvPr/>
          </p:nvSpPr>
          <p:spPr>
            <a:xfrm>
              <a:off x="3025687" y="3534524"/>
              <a:ext cx="14363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7.</a:t>
              </a:r>
              <a:r>
                <a:rPr kumimoji="1" lang="ja-JP" altLang="en-US" sz="1100" b="1" dirty="0"/>
                <a:t>ゴール／成果目標</a:t>
              </a:r>
              <a:endParaRPr kumimoji="1" lang="en-US" altLang="ja-JP" sz="1100" b="1" dirty="0"/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DFCB04E2-A190-3170-D68D-F45FF626BEB6}"/>
                </a:ext>
              </a:extLst>
            </p:cNvPr>
            <p:cNvSpPr txBox="1"/>
            <p:nvPr/>
          </p:nvSpPr>
          <p:spPr>
            <a:xfrm>
              <a:off x="3089829" y="3811157"/>
              <a:ext cx="344530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助成事業のゴール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商品完成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全体のゴール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・クラフト市で直販、</a:t>
              </a:r>
              <a:r>
                <a:rPr kumimoji="1" lang="en-US" altLang="ja-JP" sz="900" dirty="0" err="1">
                  <a:latin typeface="+mj-ea"/>
                  <a:ea typeface="+mj-ea"/>
                  <a:cs typeface="Times New Roman" panose="02020603050405020304" pitchFamily="18" charset="0"/>
                </a:rPr>
                <a:t>minne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en-US" altLang="ja-JP" sz="900" dirty="0" err="1">
                  <a:latin typeface="+mj-ea"/>
                  <a:ea typeface="+mj-ea"/>
                  <a:cs typeface="Times New Roman" panose="02020603050405020304" pitchFamily="18" charset="0"/>
                </a:rPr>
                <a:t>creema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en-US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BASE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・松森木工所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kumimoji="1" lang="en-US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HP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内のオンラインショップにて販売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いわて特産品コンクール</a:t>
              </a:r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、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グッド・トイ受賞おもちゃへ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応募する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・盛岡市のウッド・スタート事業のギフトに選定される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52F8E31F-DC48-7D79-AB23-31741F528E4B}"/>
                </a:ext>
              </a:extLst>
            </p:cNvPr>
            <p:cNvSpPr txBox="1"/>
            <p:nvPr/>
          </p:nvSpPr>
          <p:spPr>
            <a:xfrm>
              <a:off x="513170" y="3800975"/>
              <a:ext cx="2431797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昨年度進捗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他社製品の分析→工業技術センターでの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試作→松森木工所にて試作→イベントで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テストマーケティング</a:t>
              </a: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課題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・要コストダウン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・パッケージデザイン未着手</a:t>
              </a:r>
            </a:p>
          </p:txBody>
        </p:sp>
      </p:grp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92DF074-43F9-4177-2C73-DF4A443C8CC6}"/>
              </a:ext>
            </a:extLst>
          </p:cNvPr>
          <p:cNvSpPr txBox="1"/>
          <p:nvPr/>
        </p:nvSpPr>
        <p:spPr>
          <a:xfrm>
            <a:off x="539562" y="5161814"/>
            <a:ext cx="19772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900" kern="100" dirty="0">
                <a:latin typeface="+mj-ea"/>
                <a:ea typeface="+mj-ea"/>
                <a:cs typeface="Times New Roman" panose="02020603050405020304" pitchFamily="18" charset="0"/>
              </a:rPr>
              <a:t>・</a:t>
            </a:r>
            <a:endParaRPr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4D6C980-0B0A-8B5B-56A1-59ACE6E44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811" y="8778562"/>
            <a:ext cx="791945" cy="79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 descr="屋内, 古い, テーブル, 座る が含まれている画像&#10;&#10;自動的に生成された説明">
            <a:extLst>
              <a:ext uri="{FF2B5EF4-FFF2-40B4-BE49-F238E27FC236}">
                <a16:creationId xmlns:a16="http://schemas.microsoft.com/office/drawing/2014/main" id="{36B1AE1C-D3BE-1D3B-0BD0-8C8F140CBC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87"/>
          <a:stretch/>
        </p:blipFill>
        <p:spPr>
          <a:xfrm>
            <a:off x="5667038" y="8775980"/>
            <a:ext cx="662680" cy="786912"/>
          </a:xfrm>
          <a:prstGeom prst="rect">
            <a:avLst/>
          </a:prstGeom>
        </p:spPr>
      </p:pic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C55C4E1B-11E4-053D-761D-BD1EC234AE14}"/>
              </a:ext>
            </a:extLst>
          </p:cNvPr>
          <p:cNvGrpSpPr/>
          <p:nvPr/>
        </p:nvGrpSpPr>
        <p:grpSpPr>
          <a:xfrm>
            <a:off x="481747" y="3512764"/>
            <a:ext cx="5945139" cy="2113082"/>
            <a:chOff x="513170" y="4884430"/>
            <a:chExt cx="5945139" cy="2113082"/>
          </a:xfrm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1B26DEC5-B14F-5C6E-EEC7-72CBE751F4F7}"/>
                </a:ext>
              </a:extLst>
            </p:cNvPr>
            <p:cNvSpPr/>
            <p:nvPr/>
          </p:nvSpPr>
          <p:spPr>
            <a:xfrm>
              <a:off x="2967153" y="5115157"/>
              <a:ext cx="3394353" cy="430240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AF065657-5122-732E-85C9-6E67C821E839}"/>
                </a:ext>
              </a:extLst>
            </p:cNvPr>
            <p:cNvSpPr/>
            <p:nvPr/>
          </p:nvSpPr>
          <p:spPr>
            <a:xfrm>
              <a:off x="2967153" y="5868594"/>
              <a:ext cx="3394352" cy="1128918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97B1025-18EF-6CA1-768F-3FF096A9F3D1}"/>
                </a:ext>
              </a:extLst>
            </p:cNvPr>
            <p:cNvSpPr txBox="1"/>
            <p:nvPr/>
          </p:nvSpPr>
          <p:spPr>
            <a:xfrm>
              <a:off x="2952035" y="5906008"/>
              <a:ext cx="3506274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形状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直径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45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㎜の木製コイン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型おもちゃ</a:t>
              </a:r>
              <a:endParaRPr lang="ja-JP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indent="193429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（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39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㎜以下は幼児の誤飲リスクがあるが、</a:t>
              </a:r>
            </a:p>
            <a:p>
              <a:pPr indent="290143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市販のものはサイズの小さいものがほとんど）</a:t>
              </a: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個数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最小セット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6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10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枚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を想定</a:t>
              </a:r>
              <a:endParaRPr lang="ja-JP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加工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レーザー彫刻機加工、面取り・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研磨・オイル塗装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は</a:t>
              </a:r>
              <a:endParaRPr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l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手作業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（製品化段階では授産施設への依頼を検討中）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dirty="0">
                  <a:latin typeface="+mj-ea"/>
                  <a:ea typeface="+mj-ea"/>
                </a:rPr>
                <a:t>食品衛生法に基づく玩具の安全検査を実施予定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8477C21-05B7-ECE8-04A6-C994831C1094}"/>
                </a:ext>
              </a:extLst>
            </p:cNvPr>
            <p:cNvSpPr txBox="1"/>
            <p:nvPr/>
          </p:nvSpPr>
          <p:spPr>
            <a:xfrm>
              <a:off x="2965533" y="488443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4.</a:t>
              </a:r>
              <a:r>
                <a:rPr kumimoji="1" lang="ja-JP" altLang="en-US" sz="1100" b="1" dirty="0"/>
                <a:t>ターゲット</a:t>
              </a:r>
              <a:endParaRPr kumimoji="1" lang="en-US" altLang="ja-JP" sz="1100" b="1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76249BE-FEAD-B6E9-1008-F7D8453018CC}"/>
                </a:ext>
              </a:extLst>
            </p:cNvPr>
            <p:cNvSpPr txBox="1"/>
            <p:nvPr/>
          </p:nvSpPr>
          <p:spPr>
            <a:xfrm>
              <a:off x="2971515" y="561481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5.</a:t>
              </a:r>
              <a:r>
                <a:rPr kumimoji="1" lang="ja-JP" altLang="en-US" sz="1100" b="1" dirty="0"/>
                <a:t>仕様</a:t>
              </a:r>
              <a:endParaRPr kumimoji="1" lang="en-US" altLang="ja-JP" sz="1100" b="1" dirty="0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BE0D01F3-B613-0048-625F-FD27AB5B6B31}"/>
                </a:ext>
              </a:extLst>
            </p:cNvPr>
            <p:cNvSpPr/>
            <p:nvPr/>
          </p:nvSpPr>
          <p:spPr>
            <a:xfrm>
              <a:off x="547654" y="5115156"/>
              <a:ext cx="2319023" cy="1882355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6B3BDBD3-535A-AC8E-E7ED-3614B9673E11}"/>
                </a:ext>
              </a:extLst>
            </p:cNvPr>
            <p:cNvSpPr txBox="1"/>
            <p:nvPr/>
          </p:nvSpPr>
          <p:spPr>
            <a:xfrm>
              <a:off x="521605" y="488443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3.</a:t>
              </a:r>
              <a:r>
                <a:rPr kumimoji="1" lang="ja-JP" altLang="en-US" sz="1100" b="1" dirty="0"/>
                <a:t>コンセプト</a:t>
              </a:r>
              <a:endParaRPr kumimoji="1" lang="en-US" altLang="ja-JP" sz="1100" b="1" dirty="0"/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6B7558EE-8DE6-D59C-B737-F3EB8AA6A416}"/>
                </a:ext>
              </a:extLst>
            </p:cNvPr>
            <p:cNvSpPr txBox="1"/>
            <p:nvPr/>
          </p:nvSpPr>
          <p:spPr>
            <a:xfrm>
              <a:off x="513170" y="5155427"/>
              <a:ext cx="2377574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en-US" altLang="ja-JP" sz="900" dirty="0">
                  <a:solidFill>
                    <a:srgbClr val="80B4AA"/>
                  </a:solidFill>
                </a:rPr>
                <a:t> </a:t>
              </a:r>
              <a:r>
                <a:rPr kumimoji="1" lang="en-US" altLang="ja-JP" sz="900" dirty="0"/>
                <a:t>100</a:t>
              </a:r>
              <a:r>
                <a:rPr kumimoji="1" lang="ja-JP" altLang="en-US" sz="900" dirty="0"/>
                <a:t>年あそべる</a:t>
              </a:r>
              <a:endParaRPr kumimoji="1" lang="en-US" altLang="ja-JP" sz="900" dirty="0"/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・高品質の無垢材で劣化しにくい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・世代を越えて受け継がれる、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“タイムレス” なデザイン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　（タイムレス</a:t>
              </a:r>
              <a:r>
                <a:rPr kumimoji="1" lang="en-US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価値が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時</a:t>
              </a:r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の流れ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や流行に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　　　　　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影響さ</a:t>
              </a:r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れない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）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en-US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マルチコイン</a:t>
              </a:r>
              <a:endParaRPr lang="en-US" altLang="ja-JP" sz="900" b="1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発達</a:t>
              </a:r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・個性に合わせた多様な遊びかた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・初めてでも</a:t>
              </a:r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遊べるシンプルさ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・硬貨をベースにしつつサイズを大きく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　することで、年齢・国籍問わず利用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できる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14FC6CF1-3FEB-A447-5E21-7282B0344D21}"/>
                </a:ext>
              </a:extLst>
            </p:cNvPr>
            <p:cNvSpPr txBox="1"/>
            <p:nvPr/>
          </p:nvSpPr>
          <p:spPr>
            <a:xfrm>
              <a:off x="2952035" y="5168450"/>
              <a:ext cx="34283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購買ターゲット</a:t>
              </a:r>
              <a:r>
                <a:rPr lang="ja-JP" altLang="en-US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第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1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子が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才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未満の、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20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代後半～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代の母親</a:t>
              </a: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メインユーザー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才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児とその保護者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8A93552-C15E-DF8B-4354-72B4F4B999CE}"/>
              </a:ext>
            </a:extLst>
          </p:cNvPr>
          <p:cNvSpPr txBox="1"/>
          <p:nvPr/>
        </p:nvSpPr>
        <p:spPr>
          <a:xfrm>
            <a:off x="4234295" y="8191205"/>
            <a:ext cx="2073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+mj-ea"/>
                <a:ea typeface="+mj-ea"/>
                <a:cs typeface="Times New Roman" panose="02020603050405020304" pitchFamily="18" charset="0"/>
              </a:rPr>
              <a:t>おしゃぶりから、出し入れする、並べる、数える、お買い物ごっこ、ゲーム、インテリアなど、成長や個性に合わせて柔軟に遊びかたを変えられる</a:t>
            </a:r>
            <a:endParaRPr kumimoji="1" lang="en-US" altLang="ja-JP" sz="8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E4D66DA8-49E3-4A88-35A1-74C47C299533}"/>
              </a:ext>
            </a:extLst>
          </p:cNvPr>
          <p:cNvGrpSpPr/>
          <p:nvPr/>
        </p:nvGrpSpPr>
        <p:grpSpPr>
          <a:xfrm>
            <a:off x="527751" y="2177766"/>
            <a:ext cx="5802330" cy="1325771"/>
            <a:chOff x="547654" y="2187501"/>
            <a:chExt cx="5802330" cy="1434810"/>
          </a:xfrm>
        </p:grpSpPr>
        <p:sp>
          <p:nvSpPr>
            <p:cNvPr id="89" name="吹き出し: 右矢印 88">
              <a:extLst>
                <a:ext uri="{FF2B5EF4-FFF2-40B4-BE49-F238E27FC236}">
                  <a16:creationId xmlns:a16="http://schemas.microsoft.com/office/drawing/2014/main" id="{BDFB0E9A-7D43-8924-10D9-33709ABCCAF3}"/>
                </a:ext>
              </a:extLst>
            </p:cNvPr>
            <p:cNvSpPr/>
            <p:nvPr/>
          </p:nvSpPr>
          <p:spPr>
            <a:xfrm>
              <a:off x="547654" y="2191782"/>
              <a:ext cx="2775405" cy="467033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6974D730-F714-A215-CEC4-572292B0B8CE}"/>
                </a:ext>
              </a:extLst>
            </p:cNvPr>
            <p:cNvSpPr/>
            <p:nvPr/>
          </p:nvSpPr>
          <p:spPr>
            <a:xfrm>
              <a:off x="3363315" y="2187501"/>
              <a:ext cx="2986669" cy="467033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吹き出し: 右矢印 90">
              <a:extLst>
                <a:ext uri="{FF2B5EF4-FFF2-40B4-BE49-F238E27FC236}">
                  <a16:creationId xmlns:a16="http://schemas.microsoft.com/office/drawing/2014/main" id="{0E33E82D-65CC-986E-E3E9-FC779DE48BD0}"/>
                </a:ext>
              </a:extLst>
            </p:cNvPr>
            <p:cNvSpPr/>
            <p:nvPr/>
          </p:nvSpPr>
          <p:spPr>
            <a:xfrm>
              <a:off x="547654" y="2698686"/>
              <a:ext cx="2745039" cy="401443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A446D65C-0758-A1C2-D4E9-69F6694AEE81}"/>
                </a:ext>
              </a:extLst>
            </p:cNvPr>
            <p:cNvSpPr/>
            <p:nvPr/>
          </p:nvSpPr>
          <p:spPr>
            <a:xfrm>
              <a:off x="3363315" y="2694405"/>
              <a:ext cx="2986669" cy="401443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吹き出し: 右矢印 92">
              <a:extLst>
                <a:ext uri="{FF2B5EF4-FFF2-40B4-BE49-F238E27FC236}">
                  <a16:creationId xmlns:a16="http://schemas.microsoft.com/office/drawing/2014/main" id="{9C1F9887-F952-E1C7-FD47-5E7198C0C7D8}"/>
                </a:ext>
              </a:extLst>
            </p:cNvPr>
            <p:cNvSpPr/>
            <p:nvPr/>
          </p:nvSpPr>
          <p:spPr>
            <a:xfrm>
              <a:off x="547654" y="3148899"/>
              <a:ext cx="2745039" cy="473412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187FDFC5-E63F-A021-680A-969853E55B2D}"/>
                </a:ext>
              </a:extLst>
            </p:cNvPr>
            <p:cNvSpPr/>
            <p:nvPr/>
          </p:nvSpPr>
          <p:spPr>
            <a:xfrm>
              <a:off x="3363315" y="3144619"/>
              <a:ext cx="2986669" cy="473412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88C1BA3C-D4DA-5A25-A2AD-B2E9016DEA31}"/>
              </a:ext>
            </a:extLst>
          </p:cNvPr>
          <p:cNvGrpSpPr/>
          <p:nvPr/>
        </p:nvGrpSpPr>
        <p:grpSpPr>
          <a:xfrm>
            <a:off x="490182" y="2184403"/>
            <a:ext cx="5840068" cy="1341123"/>
            <a:chOff x="1489311" y="2425410"/>
            <a:chExt cx="3399493" cy="1103833"/>
          </a:xfrm>
        </p:grpSpPr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73F81B31-FBD8-5F21-ECA6-CAD000507E1A}"/>
                </a:ext>
              </a:extLst>
            </p:cNvPr>
            <p:cNvSpPr/>
            <p:nvPr/>
          </p:nvSpPr>
          <p:spPr>
            <a:xfrm>
              <a:off x="1489311" y="2425410"/>
              <a:ext cx="777243" cy="369332"/>
            </a:xfrm>
            <a:custGeom>
              <a:avLst/>
              <a:gdLst>
                <a:gd name="connsiteX0" fmla="*/ 0 w 777243"/>
                <a:gd name="connsiteY0" fmla="*/ 0 h 566107"/>
                <a:gd name="connsiteX1" fmla="*/ 494190 w 777243"/>
                <a:gd name="connsiteY1" fmla="*/ 0 h 566107"/>
                <a:gd name="connsiteX2" fmla="*/ 777243 w 777243"/>
                <a:gd name="connsiteY2" fmla="*/ 283054 h 566107"/>
                <a:gd name="connsiteX3" fmla="*/ 494190 w 777243"/>
                <a:gd name="connsiteY3" fmla="*/ 566107 h 566107"/>
                <a:gd name="connsiteX4" fmla="*/ 0 w 777243"/>
                <a:gd name="connsiteY4" fmla="*/ 566107 h 566107"/>
                <a:gd name="connsiteX5" fmla="*/ 283054 w 777243"/>
                <a:gd name="connsiteY5" fmla="*/ 283054 h 566107"/>
                <a:gd name="connsiteX6" fmla="*/ 0 w 777243"/>
                <a:gd name="connsiteY6" fmla="*/ 0 h 5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566107">
                  <a:moveTo>
                    <a:pt x="0" y="0"/>
                  </a:moveTo>
                  <a:lnTo>
                    <a:pt x="494190" y="0"/>
                  </a:lnTo>
                  <a:lnTo>
                    <a:pt x="777243" y="283054"/>
                  </a:lnTo>
                  <a:lnTo>
                    <a:pt x="494190" y="566107"/>
                  </a:lnTo>
                  <a:lnTo>
                    <a:pt x="0" y="566107"/>
                  </a:lnTo>
                  <a:lnTo>
                    <a:pt x="283054" y="2830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7024" tIns="6985" rIns="283053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期待</a:t>
              </a:r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354C319D-919C-95B3-A170-09DB487C2577}"/>
                </a:ext>
              </a:extLst>
            </p:cNvPr>
            <p:cNvSpPr/>
            <p:nvPr/>
          </p:nvSpPr>
          <p:spPr>
            <a:xfrm>
              <a:off x="1932501" y="2426262"/>
              <a:ext cx="1037925" cy="354096"/>
            </a:xfrm>
            <a:custGeom>
              <a:avLst/>
              <a:gdLst>
                <a:gd name="connsiteX0" fmla="*/ 0 w 1286657"/>
                <a:gd name="connsiteY0" fmla="*/ 0 h 469866"/>
                <a:gd name="connsiteX1" fmla="*/ 1051724 w 1286657"/>
                <a:gd name="connsiteY1" fmla="*/ 0 h 469866"/>
                <a:gd name="connsiteX2" fmla="*/ 1286657 w 1286657"/>
                <a:gd name="connsiteY2" fmla="*/ 234933 h 469866"/>
                <a:gd name="connsiteX3" fmla="*/ 1051724 w 1286657"/>
                <a:gd name="connsiteY3" fmla="*/ 469866 h 469866"/>
                <a:gd name="connsiteX4" fmla="*/ 0 w 1286657"/>
                <a:gd name="connsiteY4" fmla="*/ 469866 h 469866"/>
                <a:gd name="connsiteX5" fmla="*/ 234933 w 1286657"/>
                <a:gd name="connsiteY5" fmla="*/ 234933 h 469866"/>
                <a:gd name="connsiteX6" fmla="*/ 0 w 1286657"/>
                <a:gd name="connsiteY6" fmla="*/ 0 h 4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469866">
                  <a:moveTo>
                    <a:pt x="0" y="0"/>
                  </a:moveTo>
                  <a:lnTo>
                    <a:pt x="1051724" y="0"/>
                  </a:lnTo>
                  <a:lnTo>
                    <a:pt x="1286657" y="234933"/>
                  </a:lnTo>
                  <a:lnTo>
                    <a:pt x="1051724" y="469866"/>
                  </a:lnTo>
                  <a:lnTo>
                    <a:pt x="0" y="469866"/>
                  </a:lnTo>
                  <a:lnTo>
                    <a:pt x="234933" y="2349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283" tIns="3175" rIns="234933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・子どもの笑顔が見たい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ja-JP" altLang="en-US" sz="800" dirty="0">
                  <a:solidFill>
                    <a:sysClr val="windowText" lastClr="000000"/>
                  </a:solidFill>
                </a:rPr>
                <a:t>・学びにつなげたい</a:t>
              </a:r>
              <a:endParaRPr lang="en-US" altLang="ja-JP" sz="8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・可愛いものが欲しい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フリーフォーム: 図形 79">
              <a:extLst>
                <a:ext uri="{FF2B5EF4-FFF2-40B4-BE49-F238E27FC236}">
                  <a16:creationId xmlns:a16="http://schemas.microsoft.com/office/drawing/2014/main" id="{7363DE46-AEEE-EBED-F997-B8EA418496F6}"/>
                </a:ext>
              </a:extLst>
            </p:cNvPr>
            <p:cNvSpPr/>
            <p:nvPr/>
          </p:nvSpPr>
          <p:spPr>
            <a:xfrm>
              <a:off x="3050103" y="2426261"/>
              <a:ext cx="1831167" cy="354096"/>
            </a:xfrm>
            <a:custGeom>
              <a:avLst/>
              <a:gdLst>
                <a:gd name="connsiteX0" fmla="*/ 0 w 1526852"/>
                <a:gd name="connsiteY0" fmla="*/ 0 h 469866"/>
                <a:gd name="connsiteX1" fmla="*/ 1291919 w 1526852"/>
                <a:gd name="connsiteY1" fmla="*/ 0 h 469866"/>
                <a:gd name="connsiteX2" fmla="*/ 1526852 w 1526852"/>
                <a:gd name="connsiteY2" fmla="*/ 234933 h 469866"/>
                <a:gd name="connsiteX3" fmla="*/ 1291919 w 1526852"/>
                <a:gd name="connsiteY3" fmla="*/ 469866 h 469866"/>
                <a:gd name="connsiteX4" fmla="*/ 0 w 1526852"/>
                <a:gd name="connsiteY4" fmla="*/ 469866 h 469866"/>
                <a:gd name="connsiteX5" fmla="*/ 234933 w 1526852"/>
                <a:gd name="connsiteY5" fmla="*/ 234933 h 469866"/>
                <a:gd name="connsiteX6" fmla="*/ 0 w 1526852"/>
                <a:gd name="connsiteY6" fmla="*/ 0 h 4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469866">
                  <a:moveTo>
                    <a:pt x="0" y="0"/>
                  </a:moveTo>
                  <a:lnTo>
                    <a:pt x="1291919" y="0"/>
                  </a:lnTo>
                  <a:lnTo>
                    <a:pt x="1526852" y="234933"/>
                  </a:lnTo>
                  <a:lnTo>
                    <a:pt x="1291919" y="469866"/>
                  </a:lnTo>
                  <a:lnTo>
                    <a:pt x="0" y="469866"/>
                  </a:lnTo>
                  <a:lnTo>
                    <a:pt x="234933" y="2349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283" tIns="3175" rIns="234933" bIns="3175" numCol="1" spcCol="1270" anchor="ctr" anchorCtr="0">
              <a:noAutofit/>
            </a:bodyPr>
            <a:lstStyle/>
            <a:p>
              <a:pPr marL="0" lvl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b="0" kern="1200" dirty="0">
                  <a:solidFill>
                    <a:sysClr val="windowText" lastClr="000000"/>
                  </a:solidFill>
                  <a:latin typeface="+mn-ea"/>
                </a:rPr>
                <a:t>・飽きのこない上質なデザイン</a:t>
              </a:r>
              <a:endParaRPr lang="en-US" altLang="ja-JP" sz="800" b="0" kern="1200" dirty="0">
                <a:solidFill>
                  <a:sysClr val="windowText" lastClr="000000"/>
                </a:solidFill>
                <a:latin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・シンプルな本体と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遊びのバリエーション</a:t>
              </a:r>
              <a:endParaRPr lang="ja-JP" altLang="en-US" sz="800" kern="12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1" name="フリーフォーム: 図形 80">
              <a:extLst>
                <a:ext uri="{FF2B5EF4-FFF2-40B4-BE49-F238E27FC236}">
                  <a16:creationId xmlns:a16="http://schemas.microsoft.com/office/drawing/2014/main" id="{91BA49C8-DF30-E5A3-426D-2962FA242C2F}"/>
                </a:ext>
              </a:extLst>
            </p:cNvPr>
            <p:cNvSpPr/>
            <p:nvPr/>
          </p:nvSpPr>
          <p:spPr>
            <a:xfrm>
              <a:off x="1558340" y="3153898"/>
              <a:ext cx="700778" cy="375345"/>
            </a:xfrm>
            <a:custGeom>
              <a:avLst/>
              <a:gdLst>
                <a:gd name="connsiteX0" fmla="*/ 0 w 777243"/>
                <a:gd name="connsiteY0" fmla="*/ 0 h 310897"/>
                <a:gd name="connsiteX1" fmla="*/ 621795 w 777243"/>
                <a:gd name="connsiteY1" fmla="*/ 0 h 310897"/>
                <a:gd name="connsiteX2" fmla="*/ 777243 w 777243"/>
                <a:gd name="connsiteY2" fmla="*/ 155449 h 310897"/>
                <a:gd name="connsiteX3" fmla="*/ 621795 w 777243"/>
                <a:gd name="connsiteY3" fmla="*/ 310897 h 310897"/>
                <a:gd name="connsiteX4" fmla="*/ 0 w 777243"/>
                <a:gd name="connsiteY4" fmla="*/ 310897 h 310897"/>
                <a:gd name="connsiteX5" fmla="*/ 155449 w 777243"/>
                <a:gd name="connsiteY5" fmla="*/ 155449 h 310897"/>
                <a:gd name="connsiteX6" fmla="*/ 0 w 777243"/>
                <a:gd name="connsiteY6" fmla="*/ 0 h 3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310897">
                  <a:moveTo>
                    <a:pt x="0" y="0"/>
                  </a:moveTo>
                  <a:lnTo>
                    <a:pt x="621795" y="0"/>
                  </a:lnTo>
                  <a:lnTo>
                    <a:pt x="777243" y="155449"/>
                  </a:lnTo>
                  <a:lnTo>
                    <a:pt x="621795" y="310897"/>
                  </a:lnTo>
                  <a:lnTo>
                    <a:pt x="0" y="310897"/>
                  </a:lnTo>
                  <a:lnTo>
                    <a:pt x="155449" y="15544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9419" tIns="6985" rIns="155448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コスト</a:t>
              </a:r>
            </a:p>
          </p:txBody>
        </p:sp>
        <p:sp>
          <p:nvSpPr>
            <p:cNvPr id="82" name="フリーフォーム: 図形 81">
              <a:extLst>
                <a:ext uri="{FF2B5EF4-FFF2-40B4-BE49-F238E27FC236}">
                  <a16:creationId xmlns:a16="http://schemas.microsoft.com/office/drawing/2014/main" id="{613C3865-8DEC-CF8E-F09C-C77ED358DCB3}"/>
                </a:ext>
              </a:extLst>
            </p:cNvPr>
            <p:cNvSpPr/>
            <p:nvPr/>
          </p:nvSpPr>
          <p:spPr>
            <a:xfrm>
              <a:off x="1984852" y="3175103"/>
              <a:ext cx="985575" cy="311536"/>
            </a:xfrm>
            <a:custGeom>
              <a:avLst/>
              <a:gdLst>
                <a:gd name="connsiteX0" fmla="*/ 0 w 1286657"/>
                <a:gd name="connsiteY0" fmla="*/ 0 h 258044"/>
                <a:gd name="connsiteX1" fmla="*/ 1157635 w 1286657"/>
                <a:gd name="connsiteY1" fmla="*/ 0 h 258044"/>
                <a:gd name="connsiteX2" fmla="*/ 1286657 w 1286657"/>
                <a:gd name="connsiteY2" fmla="*/ 129022 h 258044"/>
                <a:gd name="connsiteX3" fmla="*/ 1157635 w 1286657"/>
                <a:gd name="connsiteY3" fmla="*/ 258044 h 258044"/>
                <a:gd name="connsiteX4" fmla="*/ 0 w 1286657"/>
                <a:gd name="connsiteY4" fmla="*/ 258044 h 258044"/>
                <a:gd name="connsiteX5" fmla="*/ 129022 w 1286657"/>
                <a:gd name="connsiteY5" fmla="*/ 129022 h 258044"/>
                <a:gd name="connsiteX6" fmla="*/ 0 w 1286657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258044">
                  <a:moveTo>
                    <a:pt x="0" y="0"/>
                  </a:moveTo>
                  <a:lnTo>
                    <a:pt x="1157635" y="0"/>
                  </a:lnTo>
                  <a:lnTo>
                    <a:pt x="1286657" y="129022"/>
                  </a:lnTo>
                  <a:lnTo>
                    <a:pt x="1157635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・木のおもちゃは高い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・手入れが面倒そう</a:t>
              </a:r>
            </a:p>
          </p:txBody>
        </p:sp>
        <p:sp>
          <p:nvSpPr>
            <p:cNvPr id="83" name="フリーフォーム: 図形 82">
              <a:extLst>
                <a:ext uri="{FF2B5EF4-FFF2-40B4-BE49-F238E27FC236}">
                  <a16:creationId xmlns:a16="http://schemas.microsoft.com/office/drawing/2014/main" id="{0A388AC9-439A-8F99-4F6C-7B3F3DF65923}"/>
                </a:ext>
              </a:extLst>
            </p:cNvPr>
            <p:cNvSpPr/>
            <p:nvPr/>
          </p:nvSpPr>
          <p:spPr>
            <a:xfrm>
              <a:off x="3101528" y="3175103"/>
              <a:ext cx="1779742" cy="311536"/>
            </a:xfrm>
            <a:custGeom>
              <a:avLst/>
              <a:gdLst>
                <a:gd name="connsiteX0" fmla="*/ 0 w 1526852"/>
                <a:gd name="connsiteY0" fmla="*/ 0 h 258044"/>
                <a:gd name="connsiteX1" fmla="*/ 1397830 w 1526852"/>
                <a:gd name="connsiteY1" fmla="*/ 0 h 258044"/>
                <a:gd name="connsiteX2" fmla="*/ 1526852 w 1526852"/>
                <a:gd name="connsiteY2" fmla="*/ 129022 h 258044"/>
                <a:gd name="connsiteX3" fmla="*/ 1397830 w 1526852"/>
                <a:gd name="connsiteY3" fmla="*/ 258044 h 258044"/>
                <a:gd name="connsiteX4" fmla="*/ 0 w 1526852"/>
                <a:gd name="connsiteY4" fmla="*/ 258044 h 258044"/>
                <a:gd name="connsiteX5" fmla="*/ 129022 w 1526852"/>
                <a:gd name="connsiteY5" fmla="*/ 129022 h 258044"/>
                <a:gd name="connsiteX6" fmla="*/ 0 w 1526852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258044">
                  <a:moveTo>
                    <a:pt x="0" y="0"/>
                  </a:moveTo>
                  <a:lnTo>
                    <a:pt x="1397830" y="0"/>
                  </a:lnTo>
                  <a:lnTo>
                    <a:pt x="1526852" y="129022"/>
                  </a:lnTo>
                  <a:lnTo>
                    <a:pt x="1397830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・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デザインや加工法でコスト</a:t>
              </a: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ダウンを</a:t>
              </a:r>
              <a:r>
                <a:rPr lang="ja-JP" altLang="en-US" sz="8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目指す</a:t>
              </a:r>
              <a:endParaRPr lang="ja-JP" altLang="ja-JP" sz="800" kern="1200" dirty="0">
                <a:solidFill>
                  <a:sysClr val="windowText" lastClr="000000"/>
                </a:solidFill>
                <a:effectLst/>
                <a:latin typeface="+mn-ea"/>
                <a:cs typeface="Times New Roman" panose="02020603050405020304" pitchFamily="18" charset="0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・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ネット販売ではお試し購入や返品保証を充実させる</a:t>
              </a:r>
              <a:endParaRPr lang="en-US" altLang="ja-JP" sz="800" kern="1200" dirty="0">
                <a:solidFill>
                  <a:sysClr val="windowText" lastClr="000000"/>
                </a:solidFill>
                <a:effectLst/>
                <a:latin typeface="+mn-ea"/>
                <a:cs typeface="Times New Roman" panose="02020603050405020304" pitchFamily="18" charset="0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・付属冊子で手入れ方法についても記載</a:t>
              </a:r>
              <a:endParaRPr lang="ja-JP" altLang="en-US" sz="800" kern="12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4" name="フリーフォーム: 図形 83">
              <a:extLst>
                <a:ext uri="{FF2B5EF4-FFF2-40B4-BE49-F238E27FC236}">
                  <a16:creationId xmlns:a16="http://schemas.microsoft.com/office/drawing/2014/main" id="{6E396DFD-F4DC-4586-9745-F5F30B04669B}"/>
                </a:ext>
              </a:extLst>
            </p:cNvPr>
            <p:cNvSpPr/>
            <p:nvPr/>
          </p:nvSpPr>
          <p:spPr>
            <a:xfrm>
              <a:off x="1565777" y="2826428"/>
              <a:ext cx="700778" cy="310897"/>
            </a:xfrm>
            <a:custGeom>
              <a:avLst/>
              <a:gdLst>
                <a:gd name="connsiteX0" fmla="*/ 0 w 777243"/>
                <a:gd name="connsiteY0" fmla="*/ 0 h 310897"/>
                <a:gd name="connsiteX1" fmla="*/ 621795 w 777243"/>
                <a:gd name="connsiteY1" fmla="*/ 0 h 310897"/>
                <a:gd name="connsiteX2" fmla="*/ 777243 w 777243"/>
                <a:gd name="connsiteY2" fmla="*/ 155449 h 310897"/>
                <a:gd name="connsiteX3" fmla="*/ 621795 w 777243"/>
                <a:gd name="connsiteY3" fmla="*/ 310897 h 310897"/>
                <a:gd name="connsiteX4" fmla="*/ 0 w 777243"/>
                <a:gd name="connsiteY4" fmla="*/ 310897 h 310897"/>
                <a:gd name="connsiteX5" fmla="*/ 155449 w 777243"/>
                <a:gd name="connsiteY5" fmla="*/ 155449 h 310897"/>
                <a:gd name="connsiteX6" fmla="*/ 0 w 777243"/>
                <a:gd name="connsiteY6" fmla="*/ 0 h 3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310897">
                  <a:moveTo>
                    <a:pt x="0" y="0"/>
                  </a:moveTo>
                  <a:lnTo>
                    <a:pt x="621795" y="0"/>
                  </a:lnTo>
                  <a:lnTo>
                    <a:pt x="777243" y="155449"/>
                  </a:lnTo>
                  <a:lnTo>
                    <a:pt x="621795" y="310897"/>
                  </a:lnTo>
                  <a:lnTo>
                    <a:pt x="0" y="310897"/>
                  </a:lnTo>
                  <a:lnTo>
                    <a:pt x="155449" y="15544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9419" tIns="6985" rIns="155448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不安</a:t>
              </a:r>
            </a:p>
          </p:txBody>
        </p:sp>
        <p:sp>
          <p:nvSpPr>
            <p:cNvPr id="85" name="フリーフォーム: 図形 84">
              <a:extLst>
                <a:ext uri="{FF2B5EF4-FFF2-40B4-BE49-F238E27FC236}">
                  <a16:creationId xmlns:a16="http://schemas.microsoft.com/office/drawing/2014/main" id="{580E38DE-DE7B-A44B-28E4-BB82FF5CA18B}"/>
                </a:ext>
              </a:extLst>
            </p:cNvPr>
            <p:cNvSpPr/>
            <p:nvPr/>
          </p:nvSpPr>
          <p:spPr>
            <a:xfrm>
              <a:off x="1992386" y="2845742"/>
              <a:ext cx="985575" cy="258044"/>
            </a:xfrm>
            <a:custGeom>
              <a:avLst/>
              <a:gdLst>
                <a:gd name="connsiteX0" fmla="*/ 0 w 1286657"/>
                <a:gd name="connsiteY0" fmla="*/ 0 h 258044"/>
                <a:gd name="connsiteX1" fmla="*/ 1157635 w 1286657"/>
                <a:gd name="connsiteY1" fmla="*/ 0 h 258044"/>
                <a:gd name="connsiteX2" fmla="*/ 1286657 w 1286657"/>
                <a:gd name="connsiteY2" fmla="*/ 129022 h 258044"/>
                <a:gd name="connsiteX3" fmla="*/ 1157635 w 1286657"/>
                <a:gd name="connsiteY3" fmla="*/ 258044 h 258044"/>
                <a:gd name="connsiteX4" fmla="*/ 0 w 1286657"/>
                <a:gd name="connsiteY4" fmla="*/ 258044 h 258044"/>
                <a:gd name="connsiteX5" fmla="*/ 129022 w 1286657"/>
                <a:gd name="connsiteY5" fmla="*/ 129022 h 258044"/>
                <a:gd name="connsiteX6" fmla="*/ 0 w 1286657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258044">
                  <a:moveTo>
                    <a:pt x="0" y="0"/>
                  </a:moveTo>
                  <a:lnTo>
                    <a:pt x="1157635" y="0"/>
                  </a:lnTo>
                  <a:lnTo>
                    <a:pt x="1286657" y="129022"/>
                  </a:lnTo>
                  <a:lnTo>
                    <a:pt x="1157635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・何を選べばいいか分からない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・すぐに飽きるかも</a:t>
              </a:r>
            </a:p>
          </p:txBody>
        </p:sp>
        <p:sp>
          <p:nvSpPr>
            <p:cNvPr id="86" name="フリーフォーム: 図形 85">
              <a:extLst>
                <a:ext uri="{FF2B5EF4-FFF2-40B4-BE49-F238E27FC236}">
                  <a16:creationId xmlns:a16="http://schemas.microsoft.com/office/drawing/2014/main" id="{FB10F8AF-E13D-3A3D-4E28-C2B25144D418}"/>
                </a:ext>
              </a:extLst>
            </p:cNvPr>
            <p:cNvSpPr/>
            <p:nvPr/>
          </p:nvSpPr>
          <p:spPr>
            <a:xfrm>
              <a:off x="3109062" y="2845742"/>
              <a:ext cx="1779742" cy="258044"/>
            </a:xfrm>
            <a:custGeom>
              <a:avLst/>
              <a:gdLst>
                <a:gd name="connsiteX0" fmla="*/ 0 w 1526852"/>
                <a:gd name="connsiteY0" fmla="*/ 0 h 258044"/>
                <a:gd name="connsiteX1" fmla="*/ 1397830 w 1526852"/>
                <a:gd name="connsiteY1" fmla="*/ 0 h 258044"/>
                <a:gd name="connsiteX2" fmla="*/ 1526852 w 1526852"/>
                <a:gd name="connsiteY2" fmla="*/ 129022 h 258044"/>
                <a:gd name="connsiteX3" fmla="*/ 1397830 w 1526852"/>
                <a:gd name="connsiteY3" fmla="*/ 258044 h 258044"/>
                <a:gd name="connsiteX4" fmla="*/ 0 w 1526852"/>
                <a:gd name="connsiteY4" fmla="*/ 258044 h 258044"/>
                <a:gd name="connsiteX5" fmla="*/ 129022 w 1526852"/>
                <a:gd name="connsiteY5" fmla="*/ 129022 h 258044"/>
                <a:gd name="connsiteX6" fmla="*/ 0 w 1526852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258044">
                  <a:moveTo>
                    <a:pt x="0" y="0"/>
                  </a:moveTo>
                  <a:lnTo>
                    <a:pt x="1397830" y="0"/>
                  </a:lnTo>
                  <a:lnTo>
                    <a:pt x="1526852" y="129022"/>
                  </a:lnTo>
                  <a:lnTo>
                    <a:pt x="1397830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・パッケージ、付属冊子等で遊びかたをアドバイス</a:t>
              </a:r>
              <a:endParaRPr lang="en-US" altLang="ja-JP" sz="800" kern="1200" dirty="0">
                <a:solidFill>
                  <a:sysClr val="windowText" lastClr="000000"/>
                </a:solidFill>
                <a:latin typeface="+mn-ea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・</a:t>
              </a:r>
              <a:r>
                <a:rPr lang="en-US" altLang="ja-JP" sz="800" kern="1200" dirty="0">
                  <a:solidFill>
                    <a:sysClr val="windowText" lastClr="000000"/>
                  </a:solidFill>
                  <a:latin typeface="+mn-ea"/>
                </a:rPr>
                <a:t>SNS</a:t>
              </a: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で購入者の声や実例を紹介</a:t>
              </a:r>
            </a:p>
          </p:txBody>
        </p:sp>
      </p:grpSp>
      <p:pic>
        <p:nvPicPr>
          <p:cNvPr id="3" name="図 2" descr="ロゴ&#10;&#10;自動的に生成された説明">
            <a:extLst>
              <a:ext uri="{FF2B5EF4-FFF2-40B4-BE49-F238E27FC236}">
                <a16:creationId xmlns:a16="http://schemas.microsoft.com/office/drawing/2014/main" id="{A00E4DE8-23E9-4451-16D3-4AD187BF42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910" y="640280"/>
            <a:ext cx="782526" cy="78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77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673AB96-5477-591D-6267-4C1978AA960D}"/>
              </a:ext>
            </a:extLst>
          </p:cNvPr>
          <p:cNvSpPr/>
          <p:nvPr/>
        </p:nvSpPr>
        <p:spPr>
          <a:xfrm>
            <a:off x="4255277" y="7317962"/>
            <a:ext cx="2081116" cy="687064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A1989CC-87D1-4BA4-39FF-A4F09F20ACCA}"/>
              </a:ext>
            </a:extLst>
          </p:cNvPr>
          <p:cNvSpPr txBox="1"/>
          <p:nvPr/>
        </p:nvSpPr>
        <p:spPr>
          <a:xfrm>
            <a:off x="4235075" y="7358695"/>
            <a:ext cx="207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b="1" dirty="0">
                <a:latin typeface="+mj-ea"/>
                <a:ea typeface="+mj-ea"/>
                <a:cs typeface="Times New Roman" panose="02020603050405020304" pitchFamily="18" charset="0"/>
              </a:rPr>
              <a:t>申請限度額　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225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万円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b="1" dirty="0">
                <a:latin typeface="+mj-ea"/>
                <a:ea typeface="+mj-ea"/>
                <a:cs typeface="Times New Roman" panose="02020603050405020304" pitchFamily="18" charset="0"/>
              </a:rPr>
              <a:t>助成限度額　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150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万円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　　　　　　 （申請額の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2/3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クラウドファンディングも検討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B44CF71-6F6C-94B6-7119-C57936DAF81F}"/>
              </a:ext>
            </a:extLst>
          </p:cNvPr>
          <p:cNvSpPr/>
          <p:nvPr/>
        </p:nvSpPr>
        <p:spPr>
          <a:xfrm>
            <a:off x="547654" y="7317962"/>
            <a:ext cx="3476439" cy="2246815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9B868CC-5A7B-9FCC-777A-6E702576C27C}"/>
              </a:ext>
            </a:extLst>
          </p:cNvPr>
          <p:cNvSpPr/>
          <p:nvPr/>
        </p:nvSpPr>
        <p:spPr>
          <a:xfrm>
            <a:off x="521605" y="1436670"/>
            <a:ext cx="4331206" cy="464454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92590E-28A8-08BB-991E-047B491626F5}"/>
              </a:ext>
            </a:extLst>
          </p:cNvPr>
          <p:cNvSpPr txBox="1"/>
          <p:nvPr/>
        </p:nvSpPr>
        <p:spPr>
          <a:xfrm>
            <a:off x="521605" y="1958286"/>
            <a:ext cx="1459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2.</a:t>
            </a:r>
            <a:r>
              <a:rPr kumimoji="1" lang="ja-JP" altLang="en-US" sz="1100" b="1" dirty="0"/>
              <a:t>ニーズと対策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0F7E8C7-BA6B-D83F-9432-E0D42B9998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43" b="26153"/>
          <a:stretch/>
        </p:blipFill>
        <p:spPr bwMode="auto">
          <a:xfrm>
            <a:off x="4234295" y="8775980"/>
            <a:ext cx="594605" cy="78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EC2C5DDC-E01B-2842-50EE-215DF9192378}"/>
              </a:ext>
            </a:extLst>
          </p:cNvPr>
          <p:cNvGraphicFramePr>
            <a:graphicFrameLocks noGrp="1"/>
          </p:cNvGraphicFramePr>
          <p:nvPr/>
        </p:nvGraphicFramePr>
        <p:xfrm>
          <a:off x="621545" y="7414219"/>
          <a:ext cx="3329568" cy="1975617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635257">
                  <a:extLst>
                    <a:ext uri="{9D8B030D-6E8A-4147-A177-3AD203B41FA5}">
                      <a16:colId xmlns:a16="http://schemas.microsoft.com/office/drawing/2014/main" val="4287366717"/>
                    </a:ext>
                  </a:extLst>
                </a:gridCol>
                <a:gridCol w="473754">
                  <a:extLst>
                    <a:ext uri="{9D8B030D-6E8A-4147-A177-3AD203B41FA5}">
                      <a16:colId xmlns:a16="http://schemas.microsoft.com/office/drawing/2014/main" val="2568532449"/>
                    </a:ext>
                  </a:extLst>
                </a:gridCol>
                <a:gridCol w="442026">
                  <a:extLst>
                    <a:ext uri="{9D8B030D-6E8A-4147-A177-3AD203B41FA5}">
                      <a16:colId xmlns:a16="http://schemas.microsoft.com/office/drawing/2014/main" val="2134573808"/>
                    </a:ext>
                  </a:extLst>
                </a:gridCol>
                <a:gridCol w="517013">
                  <a:extLst>
                    <a:ext uri="{9D8B030D-6E8A-4147-A177-3AD203B41FA5}">
                      <a16:colId xmlns:a16="http://schemas.microsoft.com/office/drawing/2014/main" val="1750548206"/>
                    </a:ext>
                  </a:extLst>
                </a:gridCol>
                <a:gridCol w="485439">
                  <a:extLst>
                    <a:ext uri="{9D8B030D-6E8A-4147-A177-3AD203B41FA5}">
                      <a16:colId xmlns:a16="http://schemas.microsoft.com/office/drawing/2014/main" val="1129168947"/>
                    </a:ext>
                  </a:extLst>
                </a:gridCol>
                <a:gridCol w="776079">
                  <a:extLst>
                    <a:ext uri="{9D8B030D-6E8A-4147-A177-3AD203B41FA5}">
                      <a16:colId xmlns:a16="http://schemas.microsoft.com/office/drawing/2014/main" val="318640288"/>
                    </a:ext>
                  </a:extLst>
                </a:gridCol>
              </a:tblGrid>
              <a:tr h="116058">
                <a:tc rowSpan="2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実施項目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助成事業実施期間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具体的な取組方法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32442"/>
                  </a:ext>
                </a:extLst>
              </a:tr>
              <a:tr h="202751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1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(4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6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2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(7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9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3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(10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12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4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(1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3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375518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工業技術</a:t>
                      </a:r>
                      <a:endParaRPr lang="en-US" altLang="ja-JP" sz="800" b="0" kern="100" dirty="0">
                        <a:effectLst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センターでの試作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レーザー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彫刻機</a:t>
                      </a:r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で加工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644023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木工所での試作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製材から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仕上げ</a:t>
                      </a:r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まで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16505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パッケージ</a:t>
                      </a: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デザイン</a:t>
                      </a: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付録含む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18595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テスト</a:t>
                      </a: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マーケティング</a:t>
                      </a: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サンプル配布、</a:t>
                      </a:r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アンケート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実施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2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製品の</a:t>
                      </a:r>
                      <a:endParaRPr lang="en-US" altLang="ja-JP" sz="800" b="0" kern="100" dirty="0">
                        <a:effectLst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修正・完成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初期ロット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生産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59103"/>
                  </a:ext>
                </a:extLst>
              </a:tr>
            </a:tbl>
          </a:graphicData>
        </a:graphic>
      </p:graphicFrame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5264FEB4-37A6-DC8F-9878-44DFBAE6591D}"/>
              </a:ext>
            </a:extLst>
          </p:cNvPr>
          <p:cNvGrpSpPr/>
          <p:nvPr/>
        </p:nvGrpSpPr>
        <p:grpSpPr>
          <a:xfrm>
            <a:off x="1308777" y="8032317"/>
            <a:ext cx="1862727" cy="1259588"/>
            <a:chOff x="3419248" y="3429000"/>
            <a:chExt cx="2690606" cy="1819404"/>
          </a:xfrm>
        </p:grpSpPr>
        <p:sp>
          <p:nvSpPr>
            <p:cNvPr id="16" name="直線矢印コネクタ 1">
              <a:extLst>
                <a:ext uri="{FF2B5EF4-FFF2-40B4-BE49-F238E27FC236}">
                  <a16:creationId xmlns:a16="http://schemas.microsoft.com/office/drawing/2014/main" id="{8429189B-17AB-EF91-139B-70EB6F341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4257" y="3429000"/>
              <a:ext cx="676275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 dirty="0"/>
            </a:p>
          </p:txBody>
        </p:sp>
        <p:sp>
          <p:nvSpPr>
            <p:cNvPr id="17" name="AutoShape 4">
              <a:extLst>
                <a:ext uri="{FF2B5EF4-FFF2-40B4-BE49-F238E27FC236}">
                  <a16:creationId xmlns:a16="http://schemas.microsoft.com/office/drawing/2014/main" id="{D9EABDF7-9193-44A9-DEB7-DEF4B1585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1670" y="3855762"/>
              <a:ext cx="68580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712C2155-E1AE-FFB8-037C-453775976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9248" y="4295963"/>
              <a:ext cx="219551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 dirty="0"/>
            </a:p>
          </p:txBody>
        </p:sp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89CE7AE1-3B93-61B4-7FBF-E48EDE8D9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790" y="4791416"/>
              <a:ext cx="690563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  <p:sp>
          <p:nvSpPr>
            <p:cNvPr id="21" name="AutoShape 4">
              <a:extLst>
                <a:ext uri="{FF2B5EF4-FFF2-40B4-BE49-F238E27FC236}">
                  <a16:creationId xmlns:a16="http://schemas.microsoft.com/office/drawing/2014/main" id="{E9E1C279-B5A6-4797-AD17-7018735D4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053" y="5248404"/>
              <a:ext cx="68580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96E18F5-BB89-15E2-5493-AE9F42CA95A4}"/>
              </a:ext>
            </a:extLst>
          </p:cNvPr>
          <p:cNvSpPr txBox="1"/>
          <p:nvPr/>
        </p:nvSpPr>
        <p:spPr>
          <a:xfrm>
            <a:off x="521605" y="1166026"/>
            <a:ext cx="1378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1.</a:t>
            </a:r>
            <a:r>
              <a:rPr kumimoji="1" lang="ja-JP" altLang="en-US" sz="1100" b="1" dirty="0"/>
              <a:t>テーマ</a:t>
            </a:r>
            <a:endParaRPr kumimoji="1" lang="en-US" altLang="ja-JP" sz="11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3A57EA3-D550-5F46-DFA3-DBD9A365A1A9}"/>
              </a:ext>
            </a:extLst>
          </p:cNvPr>
          <p:cNvSpPr txBox="1"/>
          <p:nvPr/>
        </p:nvSpPr>
        <p:spPr>
          <a:xfrm>
            <a:off x="5230926" y="1411150"/>
            <a:ext cx="10987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900" dirty="0">
                <a:latin typeface="+mj-ea"/>
                <a:ea typeface="+mj-ea"/>
              </a:rPr>
              <a:t>作成</a:t>
            </a:r>
            <a:endParaRPr kumimoji="1" lang="en-US" altLang="ja-JP" sz="900" dirty="0">
              <a:latin typeface="+mj-ea"/>
              <a:ea typeface="+mj-ea"/>
            </a:endParaRPr>
          </a:p>
          <a:p>
            <a:pPr algn="r"/>
            <a:r>
              <a:rPr kumimoji="1" lang="ja-JP" altLang="en-US" sz="900" dirty="0">
                <a:latin typeface="+mj-ea"/>
                <a:ea typeface="+mj-ea"/>
              </a:rPr>
              <a:t>とうめいしっぽ</a:t>
            </a:r>
            <a:endParaRPr kumimoji="1" lang="en-US" altLang="ja-JP" sz="900" dirty="0">
              <a:latin typeface="+mj-ea"/>
              <a:ea typeface="+mj-ea"/>
            </a:endParaRPr>
          </a:p>
          <a:p>
            <a:pPr algn="r"/>
            <a:r>
              <a:rPr kumimoji="1" lang="ja-JP" altLang="en-US" sz="900" dirty="0">
                <a:latin typeface="+mj-ea"/>
                <a:ea typeface="+mj-ea"/>
              </a:rPr>
              <a:t>新田紗希</a:t>
            </a:r>
            <a:endParaRPr kumimoji="1" lang="en-US" altLang="ja-JP" sz="900" dirty="0">
              <a:latin typeface="+mj-ea"/>
              <a:ea typeface="+mj-ea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64C58F5-66A4-1313-0E62-5AE6599CE365}"/>
              </a:ext>
            </a:extLst>
          </p:cNvPr>
          <p:cNvSpPr txBox="1"/>
          <p:nvPr/>
        </p:nvSpPr>
        <p:spPr>
          <a:xfrm>
            <a:off x="5715588" y="334904"/>
            <a:ext cx="742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>
                <a:latin typeface="+mj-ea"/>
                <a:ea typeface="+mj-ea"/>
              </a:rPr>
              <a:t>2024/4/4</a:t>
            </a:r>
            <a:endParaRPr kumimoji="1" lang="ja-JP" altLang="en-US" sz="900" dirty="0">
              <a:latin typeface="+mj-ea"/>
              <a:ea typeface="+mj-ea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1D7E12F-58CC-4C0D-EDDF-C5CD002E03A7}"/>
              </a:ext>
            </a:extLst>
          </p:cNvPr>
          <p:cNvSpPr txBox="1"/>
          <p:nvPr/>
        </p:nvSpPr>
        <p:spPr>
          <a:xfrm>
            <a:off x="621676" y="1532124"/>
            <a:ext cx="3482094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46" dirty="0"/>
              <a:t>100</a:t>
            </a:r>
            <a:r>
              <a:rPr kumimoji="1" lang="ja-JP" altLang="en-US" sz="1246" dirty="0"/>
              <a:t>年遊べるマルチコインを、岩手の木で！</a:t>
            </a:r>
            <a:endParaRPr kumimoji="1" lang="en-US" altLang="ja-JP" sz="1246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409FA99-95B2-22AE-4A72-A10F9B514A1F}"/>
              </a:ext>
            </a:extLst>
          </p:cNvPr>
          <p:cNvSpPr txBox="1"/>
          <p:nvPr/>
        </p:nvSpPr>
        <p:spPr>
          <a:xfrm>
            <a:off x="521605" y="7097085"/>
            <a:ext cx="1169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8.</a:t>
            </a:r>
            <a:r>
              <a:rPr kumimoji="1" lang="ja-JP" altLang="en-US" sz="1100" b="1" dirty="0"/>
              <a:t>スケジュール</a:t>
            </a:r>
            <a:endParaRPr kumimoji="1" lang="en-US" altLang="ja-JP" sz="1100" b="1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EF0790E-93EC-28F1-9BE5-009BA71B43D1}"/>
              </a:ext>
            </a:extLst>
          </p:cNvPr>
          <p:cNvSpPr txBox="1"/>
          <p:nvPr/>
        </p:nvSpPr>
        <p:spPr>
          <a:xfrm>
            <a:off x="4172991" y="7097085"/>
            <a:ext cx="1169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9.</a:t>
            </a:r>
            <a:r>
              <a:rPr kumimoji="1" lang="ja-JP" altLang="en-US" sz="1100" b="1" dirty="0"/>
              <a:t>費用</a:t>
            </a:r>
            <a:endParaRPr kumimoji="1" lang="en-US" altLang="ja-JP" sz="1100" b="1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17E445E-DCE9-1B8E-08D2-9E0967B681BA}"/>
              </a:ext>
            </a:extLst>
          </p:cNvPr>
          <p:cNvSpPr txBox="1"/>
          <p:nvPr/>
        </p:nvSpPr>
        <p:spPr>
          <a:xfrm>
            <a:off x="439615" y="298298"/>
            <a:ext cx="1289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+mj-ea"/>
                <a:ea typeface="+mj-ea"/>
              </a:rPr>
              <a:t>のはら｜</a:t>
            </a:r>
            <a:r>
              <a:rPr kumimoji="1" lang="en-US" altLang="ja-JP" sz="900" dirty="0" err="1">
                <a:latin typeface="+mj-ea"/>
                <a:ea typeface="+mj-ea"/>
              </a:rPr>
              <a:t>nohala</a:t>
            </a:r>
            <a:r>
              <a:rPr kumimoji="1" lang="ja-JP" altLang="en-US" sz="900" dirty="0">
                <a:latin typeface="+mj-ea"/>
                <a:ea typeface="+mj-ea"/>
              </a:rPr>
              <a:t>   　　　阿部拓也様</a:t>
            </a:r>
            <a:endParaRPr kumimoji="1" lang="en-US" altLang="ja-JP" sz="900" dirty="0">
              <a:latin typeface="+mj-ea"/>
              <a:ea typeface="+mj-ea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F8FC85D-3D94-3A61-C6A0-2023C0574E17}"/>
              </a:ext>
            </a:extLst>
          </p:cNvPr>
          <p:cNvSpPr txBox="1"/>
          <p:nvPr/>
        </p:nvSpPr>
        <p:spPr>
          <a:xfrm>
            <a:off x="1262635" y="738280"/>
            <a:ext cx="4332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/>
              <a:t>令和</a:t>
            </a:r>
            <a:r>
              <a:rPr kumimoji="1" lang="en-US" altLang="ja-JP" sz="1100" b="1" dirty="0"/>
              <a:t>6</a:t>
            </a:r>
            <a:r>
              <a:rPr kumimoji="1" lang="ja-JP" altLang="en-US" sz="1100" b="1" dirty="0"/>
              <a:t>年度岩手希望応援ファンド</a:t>
            </a:r>
            <a:endParaRPr kumimoji="1" lang="en-US" altLang="ja-JP" sz="1100" b="1" dirty="0"/>
          </a:p>
          <a:p>
            <a:pPr algn="ctr"/>
            <a:r>
              <a:rPr kumimoji="1" lang="ja-JP" altLang="en-US" sz="1100" b="1" dirty="0"/>
              <a:t>助成事業申請に向けての情報共有</a:t>
            </a:r>
            <a:endParaRPr kumimoji="1" lang="en-US" altLang="ja-JP" sz="1100" b="1" dirty="0"/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BED097E3-BCF0-6131-493B-9BAD529F3BD3}"/>
              </a:ext>
            </a:extLst>
          </p:cNvPr>
          <p:cNvGrpSpPr/>
          <p:nvPr/>
        </p:nvGrpSpPr>
        <p:grpSpPr>
          <a:xfrm>
            <a:off x="513170" y="5733542"/>
            <a:ext cx="6021968" cy="1338462"/>
            <a:chOff x="513170" y="3534524"/>
            <a:chExt cx="6021968" cy="1338462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E2D76EC3-46BB-247F-5EBA-147777F277FD}"/>
                </a:ext>
              </a:extLst>
            </p:cNvPr>
            <p:cNvSpPr/>
            <p:nvPr/>
          </p:nvSpPr>
          <p:spPr>
            <a:xfrm>
              <a:off x="558050" y="3761934"/>
              <a:ext cx="2393986" cy="1103868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033762AD-F0DB-82B7-CABC-2ECC47016817}"/>
                </a:ext>
              </a:extLst>
            </p:cNvPr>
            <p:cNvSpPr txBox="1"/>
            <p:nvPr/>
          </p:nvSpPr>
          <p:spPr>
            <a:xfrm>
              <a:off x="521605" y="3534524"/>
              <a:ext cx="14363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6.</a:t>
              </a:r>
              <a:r>
                <a:rPr kumimoji="1" lang="ja-JP" altLang="en-US" sz="1100" b="1" dirty="0"/>
                <a:t>現状</a:t>
              </a:r>
              <a:endParaRPr kumimoji="1" lang="en-US" altLang="ja-JP" sz="1100" b="1" dirty="0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F51EAF25-30B1-1E64-B494-977F63846439}"/>
                </a:ext>
              </a:extLst>
            </p:cNvPr>
            <p:cNvSpPr/>
            <p:nvPr/>
          </p:nvSpPr>
          <p:spPr>
            <a:xfrm>
              <a:off x="3076392" y="3761934"/>
              <a:ext cx="3253691" cy="1100870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3391775D-70E4-947E-67EC-7F6AA5C856B8}"/>
                </a:ext>
              </a:extLst>
            </p:cNvPr>
            <p:cNvSpPr txBox="1"/>
            <p:nvPr/>
          </p:nvSpPr>
          <p:spPr>
            <a:xfrm>
              <a:off x="3025687" y="3534524"/>
              <a:ext cx="14363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7.</a:t>
              </a:r>
              <a:r>
                <a:rPr kumimoji="1" lang="ja-JP" altLang="en-US" sz="1100" b="1" dirty="0"/>
                <a:t>ゴール／成果目標</a:t>
              </a:r>
              <a:endParaRPr kumimoji="1" lang="en-US" altLang="ja-JP" sz="1100" b="1" dirty="0"/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DFCB04E2-A190-3170-D68D-F45FF626BEB6}"/>
                </a:ext>
              </a:extLst>
            </p:cNvPr>
            <p:cNvSpPr txBox="1"/>
            <p:nvPr/>
          </p:nvSpPr>
          <p:spPr>
            <a:xfrm>
              <a:off x="3089829" y="3811157"/>
              <a:ext cx="344530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助成事業のゴール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商品完成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全体のゴール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・クラフト市で直販、</a:t>
              </a:r>
              <a:r>
                <a:rPr kumimoji="1" lang="en-US" altLang="ja-JP" sz="900" dirty="0" err="1">
                  <a:latin typeface="+mj-ea"/>
                  <a:ea typeface="+mj-ea"/>
                  <a:cs typeface="Times New Roman" panose="02020603050405020304" pitchFamily="18" charset="0"/>
                </a:rPr>
                <a:t>minne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en-US" altLang="ja-JP" sz="900" dirty="0" err="1">
                  <a:latin typeface="+mj-ea"/>
                  <a:ea typeface="+mj-ea"/>
                  <a:cs typeface="Times New Roman" panose="02020603050405020304" pitchFamily="18" charset="0"/>
                </a:rPr>
                <a:t>creema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en-US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BASE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・松森木工所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kumimoji="1" lang="en-US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HP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内のオンラインショップにて販売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いわて特産品コンクール</a:t>
              </a:r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、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グッド・トイ受賞おもちゃへ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応募する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・盛岡市のウッド・スタート事業のギフトに選定される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52F8E31F-DC48-7D79-AB23-31741F528E4B}"/>
                </a:ext>
              </a:extLst>
            </p:cNvPr>
            <p:cNvSpPr txBox="1"/>
            <p:nvPr/>
          </p:nvSpPr>
          <p:spPr>
            <a:xfrm>
              <a:off x="513170" y="3800975"/>
              <a:ext cx="2431797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昨年度進捗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他社製品の分析→工業技術センターでの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試作→松森木工所にて試作→イベントで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テストマーケティング</a:t>
              </a: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課題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・要コストダウン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・パッケージデザイン未着手</a:t>
              </a:r>
            </a:p>
          </p:txBody>
        </p:sp>
      </p:grp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92DF074-43F9-4177-2C73-DF4A443C8CC6}"/>
              </a:ext>
            </a:extLst>
          </p:cNvPr>
          <p:cNvSpPr txBox="1"/>
          <p:nvPr/>
        </p:nvSpPr>
        <p:spPr>
          <a:xfrm>
            <a:off x="539562" y="5161814"/>
            <a:ext cx="19772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900" kern="100" dirty="0">
                <a:latin typeface="+mj-ea"/>
                <a:ea typeface="+mj-ea"/>
                <a:cs typeface="Times New Roman" panose="02020603050405020304" pitchFamily="18" charset="0"/>
              </a:rPr>
              <a:t>・</a:t>
            </a:r>
            <a:endParaRPr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4D6C980-0B0A-8B5B-56A1-59ACE6E44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811" y="8778562"/>
            <a:ext cx="791945" cy="79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 descr="屋内, 古い, テーブル, 座る が含まれている画像&#10;&#10;自動的に生成された説明">
            <a:extLst>
              <a:ext uri="{FF2B5EF4-FFF2-40B4-BE49-F238E27FC236}">
                <a16:creationId xmlns:a16="http://schemas.microsoft.com/office/drawing/2014/main" id="{36B1AE1C-D3BE-1D3B-0BD0-8C8F140CBC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87"/>
          <a:stretch/>
        </p:blipFill>
        <p:spPr>
          <a:xfrm>
            <a:off x="5667038" y="8775980"/>
            <a:ext cx="662680" cy="786912"/>
          </a:xfrm>
          <a:prstGeom prst="rect">
            <a:avLst/>
          </a:prstGeom>
        </p:spPr>
      </p:pic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C55C4E1B-11E4-053D-761D-BD1EC234AE14}"/>
              </a:ext>
            </a:extLst>
          </p:cNvPr>
          <p:cNvGrpSpPr/>
          <p:nvPr/>
        </p:nvGrpSpPr>
        <p:grpSpPr>
          <a:xfrm>
            <a:off x="481747" y="3512764"/>
            <a:ext cx="5945139" cy="2113082"/>
            <a:chOff x="513170" y="4884430"/>
            <a:chExt cx="5945139" cy="2113082"/>
          </a:xfrm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1B26DEC5-B14F-5C6E-EEC7-72CBE751F4F7}"/>
                </a:ext>
              </a:extLst>
            </p:cNvPr>
            <p:cNvSpPr/>
            <p:nvPr/>
          </p:nvSpPr>
          <p:spPr>
            <a:xfrm>
              <a:off x="2967153" y="5115157"/>
              <a:ext cx="3394353" cy="430240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AF065657-5122-732E-85C9-6E67C821E839}"/>
                </a:ext>
              </a:extLst>
            </p:cNvPr>
            <p:cNvSpPr/>
            <p:nvPr/>
          </p:nvSpPr>
          <p:spPr>
            <a:xfrm>
              <a:off x="2967153" y="5868594"/>
              <a:ext cx="3394352" cy="1128918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97B1025-18EF-6CA1-768F-3FF096A9F3D1}"/>
                </a:ext>
              </a:extLst>
            </p:cNvPr>
            <p:cNvSpPr txBox="1"/>
            <p:nvPr/>
          </p:nvSpPr>
          <p:spPr>
            <a:xfrm>
              <a:off x="2952035" y="5906008"/>
              <a:ext cx="3506274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形状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直径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45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㎜の木製コイン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型おもちゃ</a:t>
              </a:r>
              <a:endParaRPr lang="ja-JP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indent="193429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（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39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㎜以下は幼児の誤飲リスクがあるが、</a:t>
              </a:r>
            </a:p>
            <a:p>
              <a:pPr indent="290143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市販のものはサイズの小さいものがほとんど）</a:t>
              </a: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個数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最小セット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6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10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枚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を想定</a:t>
              </a:r>
              <a:endParaRPr lang="ja-JP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加工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レーザー彫刻機加工、面取り・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研磨・オイル塗装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は</a:t>
              </a:r>
              <a:endParaRPr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l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手作業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（製品化段階では授産施設への依頼を検討中）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dirty="0">
                  <a:latin typeface="+mj-ea"/>
                  <a:ea typeface="+mj-ea"/>
                </a:rPr>
                <a:t>食品衛生法に基づく玩具の安全検査を実施予定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8477C21-05B7-ECE8-04A6-C994831C1094}"/>
                </a:ext>
              </a:extLst>
            </p:cNvPr>
            <p:cNvSpPr txBox="1"/>
            <p:nvPr/>
          </p:nvSpPr>
          <p:spPr>
            <a:xfrm>
              <a:off x="2965533" y="488443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4.</a:t>
              </a:r>
              <a:r>
                <a:rPr kumimoji="1" lang="ja-JP" altLang="en-US" sz="1100" b="1" dirty="0"/>
                <a:t>ターゲット</a:t>
              </a:r>
              <a:endParaRPr kumimoji="1" lang="en-US" altLang="ja-JP" sz="1100" b="1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76249BE-FEAD-B6E9-1008-F7D8453018CC}"/>
                </a:ext>
              </a:extLst>
            </p:cNvPr>
            <p:cNvSpPr txBox="1"/>
            <p:nvPr/>
          </p:nvSpPr>
          <p:spPr>
            <a:xfrm>
              <a:off x="2971515" y="561481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5.</a:t>
              </a:r>
              <a:r>
                <a:rPr kumimoji="1" lang="ja-JP" altLang="en-US" sz="1100" b="1" dirty="0"/>
                <a:t>仕様</a:t>
              </a:r>
              <a:endParaRPr kumimoji="1" lang="en-US" altLang="ja-JP" sz="1100" b="1" dirty="0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BE0D01F3-B613-0048-625F-FD27AB5B6B31}"/>
                </a:ext>
              </a:extLst>
            </p:cNvPr>
            <p:cNvSpPr/>
            <p:nvPr/>
          </p:nvSpPr>
          <p:spPr>
            <a:xfrm>
              <a:off x="547654" y="5115156"/>
              <a:ext cx="2319023" cy="1882355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6B3BDBD3-535A-AC8E-E7ED-3614B9673E11}"/>
                </a:ext>
              </a:extLst>
            </p:cNvPr>
            <p:cNvSpPr txBox="1"/>
            <p:nvPr/>
          </p:nvSpPr>
          <p:spPr>
            <a:xfrm>
              <a:off x="521605" y="488443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3.</a:t>
              </a:r>
              <a:r>
                <a:rPr kumimoji="1" lang="ja-JP" altLang="en-US" sz="1100" b="1" dirty="0"/>
                <a:t>コンセプト</a:t>
              </a:r>
              <a:endParaRPr kumimoji="1" lang="en-US" altLang="ja-JP" sz="1100" b="1" dirty="0"/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6B7558EE-8DE6-D59C-B737-F3EB8AA6A416}"/>
                </a:ext>
              </a:extLst>
            </p:cNvPr>
            <p:cNvSpPr txBox="1"/>
            <p:nvPr/>
          </p:nvSpPr>
          <p:spPr>
            <a:xfrm>
              <a:off x="513170" y="5155427"/>
              <a:ext cx="2377574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en-US" altLang="ja-JP" sz="900" dirty="0">
                  <a:solidFill>
                    <a:srgbClr val="80B4AA"/>
                  </a:solidFill>
                </a:rPr>
                <a:t> </a:t>
              </a:r>
              <a:r>
                <a:rPr kumimoji="1" lang="en-US" altLang="ja-JP" sz="900" dirty="0"/>
                <a:t>100</a:t>
              </a:r>
              <a:r>
                <a:rPr kumimoji="1" lang="ja-JP" altLang="en-US" sz="900" dirty="0"/>
                <a:t>年あそべる</a:t>
              </a:r>
              <a:endParaRPr kumimoji="1" lang="en-US" altLang="ja-JP" sz="900" dirty="0"/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・高品質の無垢材で劣化しにくい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・世代を越えて受け継がれる、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“タイムレス” なデザイン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　（タイムレス</a:t>
              </a:r>
              <a:r>
                <a:rPr kumimoji="1" lang="en-US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価値が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時</a:t>
              </a:r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の流れ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や流行に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　　　　　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影響さ</a:t>
              </a:r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れない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）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en-US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マルチコイン</a:t>
              </a:r>
              <a:endParaRPr lang="en-US" altLang="ja-JP" sz="900" b="1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発達</a:t>
              </a:r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・個性に合わせた多様な遊びかた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・初めてでも</a:t>
              </a:r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遊べるシンプルさ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・硬貨をベースにしつつサイズを大きく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　することで、年齢・国籍問わず利用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できる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14FC6CF1-3FEB-A447-5E21-7282B0344D21}"/>
                </a:ext>
              </a:extLst>
            </p:cNvPr>
            <p:cNvSpPr txBox="1"/>
            <p:nvPr/>
          </p:nvSpPr>
          <p:spPr>
            <a:xfrm>
              <a:off x="2952035" y="5168450"/>
              <a:ext cx="34283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購買ターゲット</a:t>
              </a:r>
              <a:r>
                <a:rPr lang="ja-JP" altLang="en-US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第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1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子が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才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未満の、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20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代後半～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代の母親</a:t>
              </a: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メインユーザー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才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児とその保護者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8A93552-C15E-DF8B-4354-72B4F4B999CE}"/>
              </a:ext>
            </a:extLst>
          </p:cNvPr>
          <p:cNvSpPr txBox="1"/>
          <p:nvPr/>
        </p:nvSpPr>
        <p:spPr>
          <a:xfrm>
            <a:off x="4234295" y="8191205"/>
            <a:ext cx="2073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+mj-ea"/>
                <a:ea typeface="+mj-ea"/>
                <a:cs typeface="Times New Roman" panose="02020603050405020304" pitchFamily="18" charset="0"/>
              </a:rPr>
              <a:t>おしゃぶりから、出し入れする、並べる、数える、お買い物ごっこ、ゲーム、インテリアなど、成長や個性に合わせて柔軟に遊びかたを変えられる</a:t>
            </a:r>
            <a:endParaRPr kumimoji="1" lang="en-US" altLang="ja-JP" sz="8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E4D66DA8-49E3-4A88-35A1-74C47C299533}"/>
              </a:ext>
            </a:extLst>
          </p:cNvPr>
          <p:cNvGrpSpPr/>
          <p:nvPr/>
        </p:nvGrpSpPr>
        <p:grpSpPr>
          <a:xfrm>
            <a:off x="527751" y="2177766"/>
            <a:ext cx="5802330" cy="1325771"/>
            <a:chOff x="547654" y="2187501"/>
            <a:chExt cx="5802330" cy="1434810"/>
          </a:xfrm>
        </p:grpSpPr>
        <p:sp>
          <p:nvSpPr>
            <p:cNvPr id="89" name="吹き出し: 右矢印 88">
              <a:extLst>
                <a:ext uri="{FF2B5EF4-FFF2-40B4-BE49-F238E27FC236}">
                  <a16:creationId xmlns:a16="http://schemas.microsoft.com/office/drawing/2014/main" id="{BDFB0E9A-7D43-8924-10D9-33709ABCCAF3}"/>
                </a:ext>
              </a:extLst>
            </p:cNvPr>
            <p:cNvSpPr/>
            <p:nvPr/>
          </p:nvSpPr>
          <p:spPr>
            <a:xfrm>
              <a:off x="547654" y="2191782"/>
              <a:ext cx="2775405" cy="467033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6974D730-F714-A215-CEC4-572292B0B8CE}"/>
                </a:ext>
              </a:extLst>
            </p:cNvPr>
            <p:cNvSpPr/>
            <p:nvPr/>
          </p:nvSpPr>
          <p:spPr>
            <a:xfrm>
              <a:off x="3363315" y="2187501"/>
              <a:ext cx="2986669" cy="467033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吹き出し: 右矢印 90">
              <a:extLst>
                <a:ext uri="{FF2B5EF4-FFF2-40B4-BE49-F238E27FC236}">
                  <a16:creationId xmlns:a16="http://schemas.microsoft.com/office/drawing/2014/main" id="{0E33E82D-65CC-986E-E3E9-FC779DE48BD0}"/>
                </a:ext>
              </a:extLst>
            </p:cNvPr>
            <p:cNvSpPr/>
            <p:nvPr/>
          </p:nvSpPr>
          <p:spPr>
            <a:xfrm>
              <a:off x="547654" y="2698686"/>
              <a:ext cx="2745039" cy="401443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A446D65C-0758-A1C2-D4E9-69F6694AEE81}"/>
                </a:ext>
              </a:extLst>
            </p:cNvPr>
            <p:cNvSpPr/>
            <p:nvPr/>
          </p:nvSpPr>
          <p:spPr>
            <a:xfrm>
              <a:off x="3363315" y="2694405"/>
              <a:ext cx="2986669" cy="401443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吹き出し: 右矢印 92">
              <a:extLst>
                <a:ext uri="{FF2B5EF4-FFF2-40B4-BE49-F238E27FC236}">
                  <a16:creationId xmlns:a16="http://schemas.microsoft.com/office/drawing/2014/main" id="{9C1F9887-F952-E1C7-FD47-5E7198C0C7D8}"/>
                </a:ext>
              </a:extLst>
            </p:cNvPr>
            <p:cNvSpPr/>
            <p:nvPr/>
          </p:nvSpPr>
          <p:spPr>
            <a:xfrm>
              <a:off x="547654" y="3148899"/>
              <a:ext cx="2745039" cy="473412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187FDFC5-E63F-A021-680A-969853E55B2D}"/>
                </a:ext>
              </a:extLst>
            </p:cNvPr>
            <p:cNvSpPr/>
            <p:nvPr/>
          </p:nvSpPr>
          <p:spPr>
            <a:xfrm>
              <a:off x="3363315" y="3144619"/>
              <a:ext cx="2986669" cy="473412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88C1BA3C-D4DA-5A25-A2AD-B2E9016DEA31}"/>
              </a:ext>
            </a:extLst>
          </p:cNvPr>
          <p:cNvGrpSpPr/>
          <p:nvPr/>
        </p:nvGrpSpPr>
        <p:grpSpPr>
          <a:xfrm>
            <a:off x="490182" y="2184403"/>
            <a:ext cx="5840068" cy="1341123"/>
            <a:chOff x="1489311" y="2425410"/>
            <a:chExt cx="3399493" cy="1103833"/>
          </a:xfrm>
        </p:grpSpPr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73F81B31-FBD8-5F21-ECA6-CAD000507E1A}"/>
                </a:ext>
              </a:extLst>
            </p:cNvPr>
            <p:cNvSpPr/>
            <p:nvPr/>
          </p:nvSpPr>
          <p:spPr>
            <a:xfrm>
              <a:off x="1489311" y="2425410"/>
              <a:ext cx="777243" cy="369332"/>
            </a:xfrm>
            <a:custGeom>
              <a:avLst/>
              <a:gdLst>
                <a:gd name="connsiteX0" fmla="*/ 0 w 777243"/>
                <a:gd name="connsiteY0" fmla="*/ 0 h 566107"/>
                <a:gd name="connsiteX1" fmla="*/ 494190 w 777243"/>
                <a:gd name="connsiteY1" fmla="*/ 0 h 566107"/>
                <a:gd name="connsiteX2" fmla="*/ 777243 w 777243"/>
                <a:gd name="connsiteY2" fmla="*/ 283054 h 566107"/>
                <a:gd name="connsiteX3" fmla="*/ 494190 w 777243"/>
                <a:gd name="connsiteY3" fmla="*/ 566107 h 566107"/>
                <a:gd name="connsiteX4" fmla="*/ 0 w 777243"/>
                <a:gd name="connsiteY4" fmla="*/ 566107 h 566107"/>
                <a:gd name="connsiteX5" fmla="*/ 283054 w 777243"/>
                <a:gd name="connsiteY5" fmla="*/ 283054 h 566107"/>
                <a:gd name="connsiteX6" fmla="*/ 0 w 777243"/>
                <a:gd name="connsiteY6" fmla="*/ 0 h 5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566107">
                  <a:moveTo>
                    <a:pt x="0" y="0"/>
                  </a:moveTo>
                  <a:lnTo>
                    <a:pt x="494190" y="0"/>
                  </a:lnTo>
                  <a:lnTo>
                    <a:pt x="777243" y="283054"/>
                  </a:lnTo>
                  <a:lnTo>
                    <a:pt x="494190" y="566107"/>
                  </a:lnTo>
                  <a:lnTo>
                    <a:pt x="0" y="566107"/>
                  </a:lnTo>
                  <a:lnTo>
                    <a:pt x="283054" y="2830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7024" tIns="6985" rIns="283053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期待</a:t>
              </a:r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354C319D-919C-95B3-A170-09DB487C2577}"/>
                </a:ext>
              </a:extLst>
            </p:cNvPr>
            <p:cNvSpPr/>
            <p:nvPr/>
          </p:nvSpPr>
          <p:spPr>
            <a:xfrm>
              <a:off x="1932501" y="2426262"/>
              <a:ext cx="1037925" cy="354096"/>
            </a:xfrm>
            <a:custGeom>
              <a:avLst/>
              <a:gdLst>
                <a:gd name="connsiteX0" fmla="*/ 0 w 1286657"/>
                <a:gd name="connsiteY0" fmla="*/ 0 h 469866"/>
                <a:gd name="connsiteX1" fmla="*/ 1051724 w 1286657"/>
                <a:gd name="connsiteY1" fmla="*/ 0 h 469866"/>
                <a:gd name="connsiteX2" fmla="*/ 1286657 w 1286657"/>
                <a:gd name="connsiteY2" fmla="*/ 234933 h 469866"/>
                <a:gd name="connsiteX3" fmla="*/ 1051724 w 1286657"/>
                <a:gd name="connsiteY3" fmla="*/ 469866 h 469866"/>
                <a:gd name="connsiteX4" fmla="*/ 0 w 1286657"/>
                <a:gd name="connsiteY4" fmla="*/ 469866 h 469866"/>
                <a:gd name="connsiteX5" fmla="*/ 234933 w 1286657"/>
                <a:gd name="connsiteY5" fmla="*/ 234933 h 469866"/>
                <a:gd name="connsiteX6" fmla="*/ 0 w 1286657"/>
                <a:gd name="connsiteY6" fmla="*/ 0 h 4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469866">
                  <a:moveTo>
                    <a:pt x="0" y="0"/>
                  </a:moveTo>
                  <a:lnTo>
                    <a:pt x="1051724" y="0"/>
                  </a:lnTo>
                  <a:lnTo>
                    <a:pt x="1286657" y="234933"/>
                  </a:lnTo>
                  <a:lnTo>
                    <a:pt x="1051724" y="469866"/>
                  </a:lnTo>
                  <a:lnTo>
                    <a:pt x="0" y="469866"/>
                  </a:lnTo>
                  <a:lnTo>
                    <a:pt x="234933" y="2349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283" tIns="3175" rIns="234933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・子どもの笑顔が見たい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ja-JP" altLang="en-US" sz="800" dirty="0">
                  <a:solidFill>
                    <a:sysClr val="windowText" lastClr="000000"/>
                  </a:solidFill>
                </a:rPr>
                <a:t>・学びにつなげたい</a:t>
              </a:r>
              <a:endParaRPr lang="en-US" altLang="ja-JP" sz="8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・可愛いものが欲しい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フリーフォーム: 図形 79">
              <a:extLst>
                <a:ext uri="{FF2B5EF4-FFF2-40B4-BE49-F238E27FC236}">
                  <a16:creationId xmlns:a16="http://schemas.microsoft.com/office/drawing/2014/main" id="{7363DE46-AEEE-EBED-F997-B8EA418496F6}"/>
                </a:ext>
              </a:extLst>
            </p:cNvPr>
            <p:cNvSpPr/>
            <p:nvPr/>
          </p:nvSpPr>
          <p:spPr>
            <a:xfrm>
              <a:off x="3050103" y="2426261"/>
              <a:ext cx="1831167" cy="354096"/>
            </a:xfrm>
            <a:custGeom>
              <a:avLst/>
              <a:gdLst>
                <a:gd name="connsiteX0" fmla="*/ 0 w 1526852"/>
                <a:gd name="connsiteY0" fmla="*/ 0 h 469866"/>
                <a:gd name="connsiteX1" fmla="*/ 1291919 w 1526852"/>
                <a:gd name="connsiteY1" fmla="*/ 0 h 469866"/>
                <a:gd name="connsiteX2" fmla="*/ 1526852 w 1526852"/>
                <a:gd name="connsiteY2" fmla="*/ 234933 h 469866"/>
                <a:gd name="connsiteX3" fmla="*/ 1291919 w 1526852"/>
                <a:gd name="connsiteY3" fmla="*/ 469866 h 469866"/>
                <a:gd name="connsiteX4" fmla="*/ 0 w 1526852"/>
                <a:gd name="connsiteY4" fmla="*/ 469866 h 469866"/>
                <a:gd name="connsiteX5" fmla="*/ 234933 w 1526852"/>
                <a:gd name="connsiteY5" fmla="*/ 234933 h 469866"/>
                <a:gd name="connsiteX6" fmla="*/ 0 w 1526852"/>
                <a:gd name="connsiteY6" fmla="*/ 0 h 4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469866">
                  <a:moveTo>
                    <a:pt x="0" y="0"/>
                  </a:moveTo>
                  <a:lnTo>
                    <a:pt x="1291919" y="0"/>
                  </a:lnTo>
                  <a:lnTo>
                    <a:pt x="1526852" y="234933"/>
                  </a:lnTo>
                  <a:lnTo>
                    <a:pt x="1291919" y="469866"/>
                  </a:lnTo>
                  <a:lnTo>
                    <a:pt x="0" y="469866"/>
                  </a:lnTo>
                  <a:lnTo>
                    <a:pt x="234933" y="2349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283" tIns="3175" rIns="234933" bIns="3175" numCol="1" spcCol="1270" anchor="ctr" anchorCtr="0">
              <a:noAutofit/>
            </a:bodyPr>
            <a:lstStyle/>
            <a:p>
              <a:pPr marL="0" lvl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b="0" kern="1200" dirty="0">
                  <a:solidFill>
                    <a:sysClr val="windowText" lastClr="000000"/>
                  </a:solidFill>
                  <a:latin typeface="+mn-ea"/>
                </a:rPr>
                <a:t>・飽きのこない上質なデザイン</a:t>
              </a:r>
              <a:endParaRPr lang="en-US" altLang="ja-JP" sz="800" b="0" kern="1200" dirty="0">
                <a:solidFill>
                  <a:sysClr val="windowText" lastClr="000000"/>
                </a:solidFill>
                <a:latin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・シンプルな本体と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遊びのバリエーション</a:t>
              </a:r>
              <a:endParaRPr lang="ja-JP" altLang="en-US" sz="800" kern="12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1" name="フリーフォーム: 図形 80">
              <a:extLst>
                <a:ext uri="{FF2B5EF4-FFF2-40B4-BE49-F238E27FC236}">
                  <a16:creationId xmlns:a16="http://schemas.microsoft.com/office/drawing/2014/main" id="{91BA49C8-DF30-E5A3-426D-2962FA242C2F}"/>
                </a:ext>
              </a:extLst>
            </p:cNvPr>
            <p:cNvSpPr/>
            <p:nvPr/>
          </p:nvSpPr>
          <p:spPr>
            <a:xfrm>
              <a:off x="1558340" y="3153898"/>
              <a:ext cx="700778" cy="375345"/>
            </a:xfrm>
            <a:custGeom>
              <a:avLst/>
              <a:gdLst>
                <a:gd name="connsiteX0" fmla="*/ 0 w 777243"/>
                <a:gd name="connsiteY0" fmla="*/ 0 h 310897"/>
                <a:gd name="connsiteX1" fmla="*/ 621795 w 777243"/>
                <a:gd name="connsiteY1" fmla="*/ 0 h 310897"/>
                <a:gd name="connsiteX2" fmla="*/ 777243 w 777243"/>
                <a:gd name="connsiteY2" fmla="*/ 155449 h 310897"/>
                <a:gd name="connsiteX3" fmla="*/ 621795 w 777243"/>
                <a:gd name="connsiteY3" fmla="*/ 310897 h 310897"/>
                <a:gd name="connsiteX4" fmla="*/ 0 w 777243"/>
                <a:gd name="connsiteY4" fmla="*/ 310897 h 310897"/>
                <a:gd name="connsiteX5" fmla="*/ 155449 w 777243"/>
                <a:gd name="connsiteY5" fmla="*/ 155449 h 310897"/>
                <a:gd name="connsiteX6" fmla="*/ 0 w 777243"/>
                <a:gd name="connsiteY6" fmla="*/ 0 h 3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310897">
                  <a:moveTo>
                    <a:pt x="0" y="0"/>
                  </a:moveTo>
                  <a:lnTo>
                    <a:pt x="621795" y="0"/>
                  </a:lnTo>
                  <a:lnTo>
                    <a:pt x="777243" y="155449"/>
                  </a:lnTo>
                  <a:lnTo>
                    <a:pt x="621795" y="310897"/>
                  </a:lnTo>
                  <a:lnTo>
                    <a:pt x="0" y="310897"/>
                  </a:lnTo>
                  <a:lnTo>
                    <a:pt x="155449" y="15544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9419" tIns="6985" rIns="155448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コスト</a:t>
              </a:r>
            </a:p>
          </p:txBody>
        </p:sp>
        <p:sp>
          <p:nvSpPr>
            <p:cNvPr id="82" name="フリーフォーム: 図形 81">
              <a:extLst>
                <a:ext uri="{FF2B5EF4-FFF2-40B4-BE49-F238E27FC236}">
                  <a16:creationId xmlns:a16="http://schemas.microsoft.com/office/drawing/2014/main" id="{613C3865-8DEC-CF8E-F09C-C77ED358DCB3}"/>
                </a:ext>
              </a:extLst>
            </p:cNvPr>
            <p:cNvSpPr/>
            <p:nvPr/>
          </p:nvSpPr>
          <p:spPr>
            <a:xfrm>
              <a:off x="1984852" y="3175103"/>
              <a:ext cx="985575" cy="311536"/>
            </a:xfrm>
            <a:custGeom>
              <a:avLst/>
              <a:gdLst>
                <a:gd name="connsiteX0" fmla="*/ 0 w 1286657"/>
                <a:gd name="connsiteY0" fmla="*/ 0 h 258044"/>
                <a:gd name="connsiteX1" fmla="*/ 1157635 w 1286657"/>
                <a:gd name="connsiteY1" fmla="*/ 0 h 258044"/>
                <a:gd name="connsiteX2" fmla="*/ 1286657 w 1286657"/>
                <a:gd name="connsiteY2" fmla="*/ 129022 h 258044"/>
                <a:gd name="connsiteX3" fmla="*/ 1157635 w 1286657"/>
                <a:gd name="connsiteY3" fmla="*/ 258044 h 258044"/>
                <a:gd name="connsiteX4" fmla="*/ 0 w 1286657"/>
                <a:gd name="connsiteY4" fmla="*/ 258044 h 258044"/>
                <a:gd name="connsiteX5" fmla="*/ 129022 w 1286657"/>
                <a:gd name="connsiteY5" fmla="*/ 129022 h 258044"/>
                <a:gd name="connsiteX6" fmla="*/ 0 w 1286657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258044">
                  <a:moveTo>
                    <a:pt x="0" y="0"/>
                  </a:moveTo>
                  <a:lnTo>
                    <a:pt x="1157635" y="0"/>
                  </a:lnTo>
                  <a:lnTo>
                    <a:pt x="1286657" y="129022"/>
                  </a:lnTo>
                  <a:lnTo>
                    <a:pt x="1157635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・木のおもちゃは高い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・手入れが面倒そう</a:t>
              </a:r>
            </a:p>
          </p:txBody>
        </p:sp>
        <p:sp>
          <p:nvSpPr>
            <p:cNvPr id="83" name="フリーフォーム: 図形 82">
              <a:extLst>
                <a:ext uri="{FF2B5EF4-FFF2-40B4-BE49-F238E27FC236}">
                  <a16:creationId xmlns:a16="http://schemas.microsoft.com/office/drawing/2014/main" id="{0A388AC9-439A-8F99-4F6C-7B3F3DF65923}"/>
                </a:ext>
              </a:extLst>
            </p:cNvPr>
            <p:cNvSpPr/>
            <p:nvPr/>
          </p:nvSpPr>
          <p:spPr>
            <a:xfrm>
              <a:off x="3101528" y="3175103"/>
              <a:ext cx="1779742" cy="311536"/>
            </a:xfrm>
            <a:custGeom>
              <a:avLst/>
              <a:gdLst>
                <a:gd name="connsiteX0" fmla="*/ 0 w 1526852"/>
                <a:gd name="connsiteY0" fmla="*/ 0 h 258044"/>
                <a:gd name="connsiteX1" fmla="*/ 1397830 w 1526852"/>
                <a:gd name="connsiteY1" fmla="*/ 0 h 258044"/>
                <a:gd name="connsiteX2" fmla="*/ 1526852 w 1526852"/>
                <a:gd name="connsiteY2" fmla="*/ 129022 h 258044"/>
                <a:gd name="connsiteX3" fmla="*/ 1397830 w 1526852"/>
                <a:gd name="connsiteY3" fmla="*/ 258044 h 258044"/>
                <a:gd name="connsiteX4" fmla="*/ 0 w 1526852"/>
                <a:gd name="connsiteY4" fmla="*/ 258044 h 258044"/>
                <a:gd name="connsiteX5" fmla="*/ 129022 w 1526852"/>
                <a:gd name="connsiteY5" fmla="*/ 129022 h 258044"/>
                <a:gd name="connsiteX6" fmla="*/ 0 w 1526852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258044">
                  <a:moveTo>
                    <a:pt x="0" y="0"/>
                  </a:moveTo>
                  <a:lnTo>
                    <a:pt x="1397830" y="0"/>
                  </a:lnTo>
                  <a:lnTo>
                    <a:pt x="1526852" y="129022"/>
                  </a:lnTo>
                  <a:lnTo>
                    <a:pt x="1397830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・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デザインや加工法でコスト</a:t>
              </a: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ダウンを</a:t>
              </a:r>
              <a:r>
                <a:rPr lang="ja-JP" altLang="en-US" sz="8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目指す</a:t>
              </a:r>
              <a:endParaRPr lang="ja-JP" altLang="ja-JP" sz="800" kern="1200" dirty="0">
                <a:solidFill>
                  <a:sysClr val="windowText" lastClr="000000"/>
                </a:solidFill>
                <a:effectLst/>
                <a:latin typeface="+mn-ea"/>
                <a:cs typeface="Times New Roman" panose="02020603050405020304" pitchFamily="18" charset="0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・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ネット販売ではお試し購入や返品保証を充実させる</a:t>
              </a:r>
              <a:endParaRPr lang="en-US" altLang="ja-JP" sz="800" kern="1200" dirty="0">
                <a:solidFill>
                  <a:sysClr val="windowText" lastClr="000000"/>
                </a:solidFill>
                <a:effectLst/>
                <a:latin typeface="+mn-ea"/>
                <a:cs typeface="Times New Roman" panose="02020603050405020304" pitchFamily="18" charset="0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・付属冊子で手入れ方法についても記載</a:t>
              </a:r>
              <a:endParaRPr lang="ja-JP" altLang="en-US" sz="800" kern="12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4" name="フリーフォーム: 図形 83">
              <a:extLst>
                <a:ext uri="{FF2B5EF4-FFF2-40B4-BE49-F238E27FC236}">
                  <a16:creationId xmlns:a16="http://schemas.microsoft.com/office/drawing/2014/main" id="{6E396DFD-F4DC-4586-9745-F5F30B04669B}"/>
                </a:ext>
              </a:extLst>
            </p:cNvPr>
            <p:cNvSpPr/>
            <p:nvPr/>
          </p:nvSpPr>
          <p:spPr>
            <a:xfrm>
              <a:off x="1565777" y="2826428"/>
              <a:ext cx="700778" cy="310897"/>
            </a:xfrm>
            <a:custGeom>
              <a:avLst/>
              <a:gdLst>
                <a:gd name="connsiteX0" fmla="*/ 0 w 777243"/>
                <a:gd name="connsiteY0" fmla="*/ 0 h 310897"/>
                <a:gd name="connsiteX1" fmla="*/ 621795 w 777243"/>
                <a:gd name="connsiteY1" fmla="*/ 0 h 310897"/>
                <a:gd name="connsiteX2" fmla="*/ 777243 w 777243"/>
                <a:gd name="connsiteY2" fmla="*/ 155449 h 310897"/>
                <a:gd name="connsiteX3" fmla="*/ 621795 w 777243"/>
                <a:gd name="connsiteY3" fmla="*/ 310897 h 310897"/>
                <a:gd name="connsiteX4" fmla="*/ 0 w 777243"/>
                <a:gd name="connsiteY4" fmla="*/ 310897 h 310897"/>
                <a:gd name="connsiteX5" fmla="*/ 155449 w 777243"/>
                <a:gd name="connsiteY5" fmla="*/ 155449 h 310897"/>
                <a:gd name="connsiteX6" fmla="*/ 0 w 777243"/>
                <a:gd name="connsiteY6" fmla="*/ 0 h 3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310897">
                  <a:moveTo>
                    <a:pt x="0" y="0"/>
                  </a:moveTo>
                  <a:lnTo>
                    <a:pt x="621795" y="0"/>
                  </a:lnTo>
                  <a:lnTo>
                    <a:pt x="777243" y="155449"/>
                  </a:lnTo>
                  <a:lnTo>
                    <a:pt x="621795" y="310897"/>
                  </a:lnTo>
                  <a:lnTo>
                    <a:pt x="0" y="310897"/>
                  </a:lnTo>
                  <a:lnTo>
                    <a:pt x="155449" y="15544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9419" tIns="6985" rIns="155448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不安</a:t>
              </a:r>
            </a:p>
          </p:txBody>
        </p:sp>
        <p:sp>
          <p:nvSpPr>
            <p:cNvPr id="85" name="フリーフォーム: 図形 84">
              <a:extLst>
                <a:ext uri="{FF2B5EF4-FFF2-40B4-BE49-F238E27FC236}">
                  <a16:creationId xmlns:a16="http://schemas.microsoft.com/office/drawing/2014/main" id="{580E38DE-DE7B-A44B-28E4-BB82FF5CA18B}"/>
                </a:ext>
              </a:extLst>
            </p:cNvPr>
            <p:cNvSpPr/>
            <p:nvPr/>
          </p:nvSpPr>
          <p:spPr>
            <a:xfrm>
              <a:off x="1992386" y="2845742"/>
              <a:ext cx="985575" cy="258044"/>
            </a:xfrm>
            <a:custGeom>
              <a:avLst/>
              <a:gdLst>
                <a:gd name="connsiteX0" fmla="*/ 0 w 1286657"/>
                <a:gd name="connsiteY0" fmla="*/ 0 h 258044"/>
                <a:gd name="connsiteX1" fmla="*/ 1157635 w 1286657"/>
                <a:gd name="connsiteY1" fmla="*/ 0 h 258044"/>
                <a:gd name="connsiteX2" fmla="*/ 1286657 w 1286657"/>
                <a:gd name="connsiteY2" fmla="*/ 129022 h 258044"/>
                <a:gd name="connsiteX3" fmla="*/ 1157635 w 1286657"/>
                <a:gd name="connsiteY3" fmla="*/ 258044 h 258044"/>
                <a:gd name="connsiteX4" fmla="*/ 0 w 1286657"/>
                <a:gd name="connsiteY4" fmla="*/ 258044 h 258044"/>
                <a:gd name="connsiteX5" fmla="*/ 129022 w 1286657"/>
                <a:gd name="connsiteY5" fmla="*/ 129022 h 258044"/>
                <a:gd name="connsiteX6" fmla="*/ 0 w 1286657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258044">
                  <a:moveTo>
                    <a:pt x="0" y="0"/>
                  </a:moveTo>
                  <a:lnTo>
                    <a:pt x="1157635" y="0"/>
                  </a:lnTo>
                  <a:lnTo>
                    <a:pt x="1286657" y="129022"/>
                  </a:lnTo>
                  <a:lnTo>
                    <a:pt x="1157635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・何を選べばいいか分からない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・すぐに飽きるかも</a:t>
              </a:r>
            </a:p>
          </p:txBody>
        </p:sp>
        <p:sp>
          <p:nvSpPr>
            <p:cNvPr id="86" name="フリーフォーム: 図形 85">
              <a:extLst>
                <a:ext uri="{FF2B5EF4-FFF2-40B4-BE49-F238E27FC236}">
                  <a16:creationId xmlns:a16="http://schemas.microsoft.com/office/drawing/2014/main" id="{FB10F8AF-E13D-3A3D-4E28-C2B25144D418}"/>
                </a:ext>
              </a:extLst>
            </p:cNvPr>
            <p:cNvSpPr/>
            <p:nvPr/>
          </p:nvSpPr>
          <p:spPr>
            <a:xfrm>
              <a:off x="3109062" y="2845742"/>
              <a:ext cx="1779742" cy="258044"/>
            </a:xfrm>
            <a:custGeom>
              <a:avLst/>
              <a:gdLst>
                <a:gd name="connsiteX0" fmla="*/ 0 w 1526852"/>
                <a:gd name="connsiteY0" fmla="*/ 0 h 258044"/>
                <a:gd name="connsiteX1" fmla="*/ 1397830 w 1526852"/>
                <a:gd name="connsiteY1" fmla="*/ 0 h 258044"/>
                <a:gd name="connsiteX2" fmla="*/ 1526852 w 1526852"/>
                <a:gd name="connsiteY2" fmla="*/ 129022 h 258044"/>
                <a:gd name="connsiteX3" fmla="*/ 1397830 w 1526852"/>
                <a:gd name="connsiteY3" fmla="*/ 258044 h 258044"/>
                <a:gd name="connsiteX4" fmla="*/ 0 w 1526852"/>
                <a:gd name="connsiteY4" fmla="*/ 258044 h 258044"/>
                <a:gd name="connsiteX5" fmla="*/ 129022 w 1526852"/>
                <a:gd name="connsiteY5" fmla="*/ 129022 h 258044"/>
                <a:gd name="connsiteX6" fmla="*/ 0 w 1526852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258044">
                  <a:moveTo>
                    <a:pt x="0" y="0"/>
                  </a:moveTo>
                  <a:lnTo>
                    <a:pt x="1397830" y="0"/>
                  </a:lnTo>
                  <a:lnTo>
                    <a:pt x="1526852" y="129022"/>
                  </a:lnTo>
                  <a:lnTo>
                    <a:pt x="1397830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・パッケージ、付属冊子等で遊びかたをアドバイス</a:t>
              </a:r>
              <a:endParaRPr lang="en-US" altLang="ja-JP" sz="800" kern="1200" dirty="0">
                <a:solidFill>
                  <a:sysClr val="windowText" lastClr="000000"/>
                </a:solidFill>
                <a:latin typeface="+mn-ea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・</a:t>
              </a:r>
              <a:r>
                <a:rPr lang="en-US" altLang="ja-JP" sz="800" kern="1200" dirty="0">
                  <a:solidFill>
                    <a:sysClr val="windowText" lastClr="000000"/>
                  </a:solidFill>
                  <a:latin typeface="+mn-ea"/>
                </a:rPr>
                <a:t>SNS</a:t>
              </a: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で購入者の声や実例を紹介</a:t>
              </a:r>
            </a:p>
          </p:txBody>
        </p:sp>
      </p:grpSp>
      <p:pic>
        <p:nvPicPr>
          <p:cNvPr id="3" name="図 2" descr="ロゴ&#10;&#10;自動的に生成された説明">
            <a:extLst>
              <a:ext uri="{FF2B5EF4-FFF2-40B4-BE49-F238E27FC236}">
                <a16:creationId xmlns:a16="http://schemas.microsoft.com/office/drawing/2014/main" id="{A00E4DE8-23E9-4451-16D3-4AD187BF42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910" y="640280"/>
            <a:ext cx="782526" cy="78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1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D673AB96-5477-591D-6267-4C1978AA960D}"/>
              </a:ext>
            </a:extLst>
          </p:cNvPr>
          <p:cNvSpPr/>
          <p:nvPr/>
        </p:nvSpPr>
        <p:spPr>
          <a:xfrm>
            <a:off x="4255277" y="7317962"/>
            <a:ext cx="2081116" cy="687064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A1989CC-87D1-4BA4-39FF-A4F09F20ACCA}"/>
              </a:ext>
            </a:extLst>
          </p:cNvPr>
          <p:cNvSpPr txBox="1"/>
          <p:nvPr/>
        </p:nvSpPr>
        <p:spPr>
          <a:xfrm>
            <a:off x="4235075" y="7358695"/>
            <a:ext cx="207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b="1" dirty="0">
                <a:latin typeface="+mj-ea"/>
                <a:ea typeface="+mj-ea"/>
                <a:cs typeface="Times New Roman" panose="02020603050405020304" pitchFamily="18" charset="0"/>
              </a:rPr>
              <a:t>申請限度額　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225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万円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b="1" dirty="0">
                <a:latin typeface="+mj-ea"/>
                <a:ea typeface="+mj-ea"/>
                <a:cs typeface="Times New Roman" panose="02020603050405020304" pitchFamily="18" charset="0"/>
              </a:rPr>
              <a:t>助成限度額　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150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万円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　　　　　　 （申請額の</a:t>
            </a:r>
            <a:r>
              <a: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rPr>
              <a:t>2/3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）</a:t>
            </a:r>
            <a:endParaRPr kumimoji="1"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kumimoji="1" lang="ja-JP" altLang="en-US" sz="900" dirty="0">
                <a:solidFill>
                  <a:srgbClr val="80B4AA"/>
                </a:solidFill>
                <a:latin typeface="+mj-ea"/>
                <a:ea typeface="+mj-ea"/>
                <a:cs typeface="Times New Roman" panose="02020603050405020304" pitchFamily="18" charset="0"/>
              </a:rPr>
              <a:t>●</a:t>
            </a:r>
            <a:r>
              <a:rPr kumimoji="1" lang="ja-JP" altLang="en-US" sz="900" dirty="0">
                <a:latin typeface="+mj-ea"/>
                <a:ea typeface="+mj-ea"/>
                <a:cs typeface="Times New Roman" panose="02020603050405020304" pitchFamily="18" charset="0"/>
              </a:rPr>
              <a:t>クラウドファンディングも検討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B44CF71-6F6C-94B6-7119-C57936DAF81F}"/>
              </a:ext>
            </a:extLst>
          </p:cNvPr>
          <p:cNvSpPr/>
          <p:nvPr/>
        </p:nvSpPr>
        <p:spPr>
          <a:xfrm>
            <a:off x="547654" y="7317962"/>
            <a:ext cx="3476439" cy="2246815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9B868CC-5A7B-9FCC-777A-6E702576C27C}"/>
              </a:ext>
            </a:extLst>
          </p:cNvPr>
          <p:cNvSpPr/>
          <p:nvPr/>
        </p:nvSpPr>
        <p:spPr>
          <a:xfrm>
            <a:off x="521605" y="1436670"/>
            <a:ext cx="4331206" cy="464454"/>
          </a:xfrm>
          <a:prstGeom prst="rect">
            <a:avLst/>
          </a:prstGeom>
          <a:solidFill>
            <a:srgbClr val="CDE1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92590E-28A8-08BB-991E-047B491626F5}"/>
              </a:ext>
            </a:extLst>
          </p:cNvPr>
          <p:cNvSpPr txBox="1"/>
          <p:nvPr/>
        </p:nvSpPr>
        <p:spPr>
          <a:xfrm>
            <a:off x="521605" y="1958286"/>
            <a:ext cx="14599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2.</a:t>
            </a:r>
            <a:r>
              <a:rPr kumimoji="1" lang="ja-JP" altLang="en-US" sz="1100" b="1" dirty="0"/>
              <a:t>ニーズと対策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50F7E8C7-BA6B-D83F-9432-E0D42B9998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43" b="26153"/>
          <a:stretch/>
        </p:blipFill>
        <p:spPr bwMode="auto">
          <a:xfrm>
            <a:off x="4234295" y="8775980"/>
            <a:ext cx="594605" cy="78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EC2C5DDC-E01B-2842-50EE-215DF9192378}"/>
              </a:ext>
            </a:extLst>
          </p:cNvPr>
          <p:cNvGraphicFramePr>
            <a:graphicFrameLocks noGrp="1"/>
          </p:cNvGraphicFramePr>
          <p:nvPr/>
        </p:nvGraphicFramePr>
        <p:xfrm>
          <a:off x="621545" y="7414219"/>
          <a:ext cx="3329568" cy="1975617"/>
        </p:xfrm>
        <a:graphic>
          <a:graphicData uri="http://schemas.openxmlformats.org/drawingml/2006/table">
            <a:tbl>
              <a:tblPr firstRow="1" firstCol="1" bandRow="1">
                <a:tableStyleId>{5202B0CA-FC54-4496-8BCA-5EF66A818D29}</a:tableStyleId>
              </a:tblPr>
              <a:tblGrid>
                <a:gridCol w="635257">
                  <a:extLst>
                    <a:ext uri="{9D8B030D-6E8A-4147-A177-3AD203B41FA5}">
                      <a16:colId xmlns:a16="http://schemas.microsoft.com/office/drawing/2014/main" val="4287366717"/>
                    </a:ext>
                  </a:extLst>
                </a:gridCol>
                <a:gridCol w="473754">
                  <a:extLst>
                    <a:ext uri="{9D8B030D-6E8A-4147-A177-3AD203B41FA5}">
                      <a16:colId xmlns:a16="http://schemas.microsoft.com/office/drawing/2014/main" val="2568532449"/>
                    </a:ext>
                  </a:extLst>
                </a:gridCol>
                <a:gridCol w="442026">
                  <a:extLst>
                    <a:ext uri="{9D8B030D-6E8A-4147-A177-3AD203B41FA5}">
                      <a16:colId xmlns:a16="http://schemas.microsoft.com/office/drawing/2014/main" val="2134573808"/>
                    </a:ext>
                  </a:extLst>
                </a:gridCol>
                <a:gridCol w="517013">
                  <a:extLst>
                    <a:ext uri="{9D8B030D-6E8A-4147-A177-3AD203B41FA5}">
                      <a16:colId xmlns:a16="http://schemas.microsoft.com/office/drawing/2014/main" val="1750548206"/>
                    </a:ext>
                  </a:extLst>
                </a:gridCol>
                <a:gridCol w="485439">
                  <a:extLst>
                    <a:ext uri="{9D8B030D-6E8A-4147-A177-3AD203B41FA5}">
                      <a16:colId xmlns:a16="http://schemas.microsoft.com/office/drawing/2014/main" val="1129168947"/>
                    </a:ext>
                  </a:extLst>
                </a:gridCol>
                <a:gridCol w="776079">
                  <a:extLst>
                    <a:ext uri="{9D8B030D-6E8A-4147-A177-3AD203B41FA5}">
                      <a16:colId xmlns:a16="http://schemas.microsoft.com/office/drawing/2014/main" val="318640288"/>
                    </a:ext>
                  </a:extLst>
                </a:gridCol>
              </a:tblGrid>
              <a:tr h="116058">
                <a:tc rowSpan="2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実施項目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助成事業実施期間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ja-JP" sz="800" b="1" kern="100" dirty="0">
                          <a:effectLst/>
                        </a:rPr>
                        <a:t>具体的な取組方法</a:t>
                      </a:r>
                      <a:endParaRPr lang="ja-JP" sz="800" b="1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432442"/>
                  </a:ext>
                </a:extLst>
              </a:tr>
              <a:tr h="202751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1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(4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6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2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(7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9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3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(10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12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ja-JP" sz="600" b="0" kern="100" dirty="0">
                          <a:effectLst/>
                        </a:rPr>
                        <a:t>第</a:t>
                      </a:r>
                      <a:r>
                        <a:rPr lang="en-US" sz="600" b="0" kern="100" dirty="0">
                          <a:effectLst/>
                        </a:rPr>
                        <a:t>4</a:t>
                      </a:r>
                      <a:r>
                        <a:rPr lang="ja-JP" sz="600" b="0" kern="100" dirty="0">
                          <a:effectLst/>
                        </a:rPr>
                        <a:t>四半期</a:t>
                      </a:r>
                      <a:endParaRPr lang="ja-JP" sz="800" b="0" kern="100" dirty="0">
                        <a:effectLst/>
                      </a:endParaRPr>
                    </a:p>
                    <a:p>
                      <a:pPr algn="dist">
                        <a:lnSpc>
                          <a:spcPts val="1200"/>
                        </a:lnSpc>
                      </a:pPr>
                      <a:r>
                        <a:rPr lang="en-US" sz="600" b="0" kern="100" dirty="0">
                          <a:effectLst/>
                        </a:rPr>
                        <a:t>(1</a:t>
                      </a:r>
                      <a:r>
                        <a:rPr lang="ja-JP" sz="600" b="0" kern="100" dirty="0">
                          <a:effectLst/>
                        </a:rPr>
                        <a:t>～</a:t>
                      </a:r>
                      <a:r>
                        <a:rPr lang="en-US" sz="600" b="0" kern="100" dirty="0">
                          <a:effectLst/>
                        </a:rPr>
                        <a:t>3</a:t>
                      </a:r>
                      <a:r>
                        <a:rPr lang="ja-JP" sz="600" b="0" kern="100" dirty="0">
                          <a:effectLst/>
                        </a:rPr>
                        <a:t>月</a:t>
                      </a:r>
                      <a:r>
                        <a:rPr lang="en-US" sz="600" b="0" kern="100" dirty="0">
                          <a:effectLst/>
                        </a:rPr>
                        <a:t>)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375518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工業技術</a:t>
                      </a:r>
                      <a:endParaRPr lang="en-US" altLang="ja-JP" sz="800" b="0" kern="100" dirty="0">
                        <a:effectLst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センターでの試作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レーザー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彫刻機</a:t>
                      </a:r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で加工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644023"/>
                  </a:ext>
                </a:extLst>
              </a:tr>
              <a:tr h="232117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木工所での試作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製材から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仕上げ</a:t>
                      </a:r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まで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16505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パッケージ</a:t>
                      </a: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デザイン</a:t>
                      </a: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付録含む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18595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テスト</a:t>
                      </a: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マーケティング</a:t>
                      </a: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サンプル配布、</a:t>
                      </a:r>
                      <a:r>
                        <a:rPr lang="ja-JP" sz="800" b="0" kern="100" dirty="0">
                          <a:effectLst/>
                          <a:latin typeface="+mn-ea"/>
                          <a:ea typeface="+mn-ea"/>
                        </a:rPr>
                        <a:t>アンケート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</a:rPr>
                        <a:t>実施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rgbClr val="80B4AA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23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製品の</a:t>
                      </a:r>
                      <a:endParaRPr lang="en-US" altLang="ja-JP" sz="800" b="0" kern="100" dirty="0">
                        <a:effectLst/>
                      </a:endParaRPr>
                    </a:p>
                    <a:p>
                      <a:pPr algn="l"/>
                      <a:r>
                        <a:rPr lang="ja-JP" sz="800" b="0" kern="100" dirty="0">
                          <a:effectLst/>
                        </a:rPr>
                        <a:t>修正・完成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kern="100" dirty="0">
                          <a:effectLst/>
                        </a:rPr>
                        <a:t> </a:t>
                      </a:r>
                      <a:endParaRPr lang="ja-JP" sz="800" b="0" kern="100" dirty="0">
                        <a:effectLst/>
                        <a:latin typeface="ＭＳ ゴシック" panose="020B0609070205080204" pitchFamily="49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kern="100" dirty="0">
                        <a:effectLst/>
                        <a:latin typeface="ＭＳ 明朝" panose="02020609040205080304" pitchFamily="17" charset="-128"/>
                        <a:ea typeface="ＭＳ ゴシック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初期ロット</a:t>
                      </a:r>
                      <a:endParaRPr lang="en-US" alt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ja-JP" altLang="en-US" sz="800" b="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生産</a:t>
                      </a:r>
                      <a:endParaRPr lang="ja-JP" sz="800" b="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7478" marR="47478" marT="0" marB="0"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59103"/>
                  </a:ext>
                </a:extLst>
              </a:tr>
            </a:tbl>
          </a:graphicData>
        </a:graphic>
      </p:graphicFrame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5264FEB4-37A6-DC8F-9878-44DFBAE6591D}"/>
              </a:ext>
            </a:extLst>
          </p:cNvPr>
          <p:cNvGrpSpPr/>
          <p:nvPr/>
        </p:nvGrpSpPr>
        <p:grpSpPr>
          <a:xfrm>
            <a:off x="1308777" y="8032317"/>
            <a:ext cx="1862727" cy="1259588"/>
            <a:chOff x="3419248" y="3429000"/>
            <a:chExt cx="2690606" cy="1819404"/>
          </a:xfrm>
        </p:grpSpPr>
        <p:sp>
          <p:nvSpPr>
            <p:cNvPr id="16" name="直線矢印コネクタ 1">
              <a:extLst>
                <a:ext uri="{FF2B5EF4-FFF2-40B4-BE49-F238E27FC236}">
                  <a16:creationId xmlns:a16="http://schemas.microsoft.com/office/drawing/2014/main" id="{8429189B-17AB-EF91-139B-70EB6F341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4257" y="3429000"/>
              <a:ext cx="676275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 dirty="0"/>
            </a:p>
          </p:txBody>
        </p:sp>
        <p:sp>
          <p:nvSpPr>
            <p:cNvPr id="17" name="AutoShape 4">
              <a:extLst>
                <a:ext uri="{FF2B5EF4-FFF2-40B4-BE49-F238E27FC236}">
                  <a16:creationId xmlns:a16="http://schemas.microsoft.com/office/drawing/2014/main" id="{D9EABDF7-9193-44A9-DEB7-DEF4B1585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1670" y="3855762"/>
              <a:ext cx="68580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712C2155-E1AE-FFB8-037C-453775976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9248" y="4295963"/>
              <a:ext cx="219551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 dirty="0"/>
            </a:p>
          </p:txBody>
        </p:sp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89CE7AE1-3B93-61B4-7FBF-E48EDE8D9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8790" y="4791416"/>
              <a:ext cx="690563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  <p:sp>
          <p:nvSpPr>
            <p:cNvPr id="21" name="AutoShape 4">
              <a:extLst>
                <a:ext uri="{FF2B5EF4-FFF2-40B4-BE49-F238E27FC236}">
                  <a16:creationId xmlns:a16="http://schemas.microsoft.com/office/drawing/2014/main" id="{E9E1C279-B5A6-4797-AD17-7018735D4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053" y="5248404"/>
              <a:ext cx="685801" cy="0"/>
            </a:xfrm>
            <a:prstGeom prst="straightConnector1">
              <a:avLst/>
            </a:prstGeom>
            <a:noFill/>
            <a:ln w="28575">
              <a:solidFill>
                <a:srgbClr val="80B4AA"/>
              </a:solidFill>
              <a:miter lim="800000"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8398" dir="3806097" algn="ctr" rotWithShape="0">
                      <a:srgbClr val="7F7F7F"/>
                    </a:outerShdw>
                  </a:effectLst>
                </a14:hiddenEffects>
              </a:ext>
            </a:extLst>
          </p:spPr>
          <p:txBody>
            <a:bodyPr vert="horz" wrap="square" lIns="63305" tIns="31652" rIns="63305" bIns="31652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246"/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96E18F5-BB89-15E2-5493-AE9F42CA95A4}"/>
              </a:ext>
            </a:extLst>
          </p:cNvPr>
          <p:cNvSpPr txBox="1"/>
          <p:nvPr/>
        </p:nvSpPr>
        <p:spPr>
          <a:xfrm>
            <a:off x="521605" y="1166026"/>
            <a:ext cx="1378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1.</a:t>
            </a:r>
            <a:r>
              <a:rPr kumimoji="1" lang="ja-JP" altLang="en-US" sz="1100" b="1" dirty="0"/>
              <a:t>テーマ</a:t>
            </a:r>
            <a:endParaRPr kumimoji="1" lang="en-US" altLang="ja-JP" sz="1100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3A57EA3-D550-5F46-DFA3-DBD9A365A1A9}"/>
              </a:ext>
            </a:extLst>
          </p:cNvPr>
          <p:cNvSpPr txBox="1"/>
          <p:nvPr/>
        </p:nvSpPr>
        <p:spPr>
          <a:xfrm>
            <a:off x="5230926" y="1411150"/>
            <a:ext cx="10987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900" dirty="0">
                <a:latin typeface="+mj-ea"/>
                <a:ea typeface="+mj-ea"/>
              </a:rPr>
              <a:t>作成</a:t>
            </a:r>
            <a:endParaRPr kumimoji="1" lang="en-US" altLang="ja-JP" sz="900" dirty="0">
              <a:latin typeface="+mj-ea"/>
              <a:ea typeface="+mj-ea"/>
            </a:endParaRPr>
          </a:p>
          <a:p>
            <a:pPr algn="r"/>
            <a:r>
              <a:rPr kumimoji="1" lang="ja-JP" altLang="en-US" sz="900" dirty="0">
                <a:latin typeface="+mj-ea"/>
                <a:ea typeface="+mj-ea"/>
              </a:rPr>
              <a:t>とうめいしっぽ</a:t>
            </a:r>
            <a:endParaRPr kumimoji="1" lang="en-US" altLang="ja-JP" sz="900" dirty="0">
              <a:latin typeface="+mj-ea"/>
              <a:ea typeface="+mj-ea"/>
            </a:endParaRPr>
          </a:p>
          <a:p>
            <a:pPr algn="r"/>
            <a:r>
              <a:rPr kumimoji="1" lang="ja-JP" altLang="en-US" sz="900" dirty="0">
                <a:latin typeface="+mj-ea"/>
                <a:ea typeface="+mj-ea"/>
              </a:rPr>
              <a:t>新田紗希</a:t>
            </a:r>
            <a:endParaRPr kumimoji="1" lang="en-US" altLang="ja-JP" sz="900" dirty="0">
              <a:latin typeface="+mj-ea"/>
              <a:ea typeface="+mj-ea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64C58F5-66A4-1313-0E62-5AE6599CE365}"/>
              </a:ext>
            </a:extLst>
          </p:cNvPr>
          <p:cNvSpPr txBox="1"/>
          <p:nvPr/>
        </p:nvSpPr>
        <p:spPr>
          <a:xfrm>
            <a:off x="5715588" y="334904"/>
            <a:ext cx="742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 dirty="0">
                <a:latin typeface="+mj-ea"/>
                <a:ea typeface="+mj-ea"/>
              </a:rPr>
              <a:t>2024/4/4</a:t>
            </a:r>
            <a:endParaRPr kumimoji="1" lang="ja-JP" altLang="en-US" sz="900" dirty="0">
              <a:latin typeface="+mj-ea"/>
              <a:ea typeface="+mj-ea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8905D77-28E1-9B42-230A-0BC87CA65417}"/>
              </a:ext>
            </a:extLst>
          </p:cNvPr>
          <p:cNvSpPr txBox="1"/>
          <p:nvPr/>
        </p:nvSpPr>
        <p:spPr>
          <a:xfrm>
            <a:off x="440534" y="339824"/>
            <a:ext cx="154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+mj-ea"/>
                <a:ea typeface="+mj-ea"/>
              </a:rPr>
              <a:t>松森木工所｜</a:t>
            </a:r>
            <a:r>
              <a:rPr kumimoji="1" lang="en-US" altLang="ja-JP" sz="900" dirty="0" err="1">
                <a:latin typeface="+mj-ea"/>
                <a:ea typeface="+mj-ea"/>
              </a:rPr>
              <a:t>ima</a:t>
            </a:r>
            <a:r>
              <a:rPr kumimoji="1" lang="en-US" altLang="ja-JP" sz="900" dirty="0">
                <a:latin typeface="+mj-ea"/>
                <a:ea typeface="+mj-ea"/>
              </a:rPr>
              <a:t> design</a:t>
            </a:r>
            <a:r>
              <a:rPr kumimoji="1" lang="ja-JP" altLang="en-US" sz="900" dirty="0">
                <a:latin typeface="+mj-ea"/>
                <a:ea typeface="+mj-ea"/>
              </a:rPr>
              <a:t>　</a:t>
            </a:r>
            <a:br>
              <a:rPr kumimoji="1" lang="en-US" altLang="ja-JP" sz="900" dirty="0">
                <a:latin typeface="+mj-ea"/>
                <a:ea typeface="+mj-ea"/>
              </a:rPr>
            </a:br>
            <a:r>
              <a:rPr kumimoji="1" lang="ja-JP" altLang="en-US" sz="900" dirty="0">
                <a:latin typeface="+mj-ea"/>
                <a:ea typeface="+mj-ea"/>
              </a:rPr>
              <a:t>松森政仁様</a:t>
            </a:r>
            <a:endParaRPr kumimoji="1" lang="en-US" altLang="ja-JP" sz="900" dirty="0">
              <a:latin typeface="+mj-ea"/>
              <a:ea typeface="+mj-ea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1D7E12F-58CC-4C0D-EDDF-C5CD002E03A7}"/>
              </a:ext>
            </a:extLst>
          </p:cNvPr>
          <p:cNvSpPr txBox="1"/>
          <p:nvPr/>
        </p:nvSpPr>
        <p:spPr>
          <a:xfrm>
            <a:off x="621676" y="1532124"/>
            <a:ext cx="3482094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46" dirty="0"/>
              <a:t>100</a:t>
            </a:r>
            <a:r>
              <a:rPr kumimoji="1" lang="ja-JP" altLang="en-US" sz="1246" dirty="0"/>
              <a:t>年遊べるマルチコインを、岩手の木で！</a:t>
            </a:r>
            <a:endParaRPr kumimoji="1" lang="en-US" altLang="ja-JP" sz="1246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409FA99-95B2-22AE-4A72-A10F9B514A1F}"/>
              </a:ext>
            </a:extLst>
          </p:cNvPr>
          <p:cNvSpPr txBox="1"/>
          <p:nvPr/>
        </p:nvSpPr>
        <p:spPr>
          <a:xfrm>
            <a:off x="521605" y="7097085"/>
            <a:ext cx="1169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8.</a:t>
            </a:r>
            <a:r>
              <a:rPr kumimoji="1" lang="ja-JP" altLang="en-US" sz="1100" b="1" dirty="0"/>
              <a:t>スケジュール</a:t>
            </a:r>
            <a:endParaRPr kumimoji="1" lang="en-US" altLang="ja-JP" sz="1100" b="1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EF0790E-93EC-28F1-9BE5-009BA71B43D1}"/>
              </a:ext>
            </a:extLst>
          </p:cNvPr>
          <p:cNvSpPr txBox="1"/>
          <p:nvPr/>
        </p:nvSpPr>
        <p:spPr>
          <a:xfrm>
            <a:off x="4172991" y="7097085"/>
            <a:ext cx="1169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b="1" dirty="0"/>
              <a:t>9.</a:t>
            </a:r>
            <a:r>
              <a:rPr kumimoji="1" lang="ja-JP" altLang="en-US" sz="1100" b="1" dirty="0"/>
              <a:t>費用</a:t>
            </a:r>
            <a:endParaRPr kumimoji="1" lang="en-US" altLang="ja-JP" sz="1100" b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F8FC85D-3D94-3A61-C6A0-2023C0574E17}"/>
              </a:ext>
            </a:extLst>
          </p:cNvPr>
          <p:cNvSpPr txBox="1"/>
          <p:nvPr/>
        </p:nvSpPr>
        <p:spPr>
          <a:xfrm>
            <a:off x="1262635" y="738280"/>
            <a:ext cx="4332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100" b="1" dirty="0"/>
              <a:t>令和</a:t>
            </a:r>
            <a:r>
              <a:rPr kumimoji="1" lang="en-US" altLang="ja-JP" sz="1100" b="1" dirty="0"/>
              <a:t>6</a:t>
            </a:r>
            <a:r>
              <a:rPr kumimoji="1" lang="ja-JP" altLang="en-US" sz="1100" b="1" dirty="0"/>
              <a:t>年度岩手希望応援ファンド</a:t>
            </a:r>
            <a:endParaRPr kumimoji="1" lang="en-US" altLang="ja-JP" sz="1100" b="1" dirty="0"/>
          </a:p>
          <a:p>
            <a:pPr algn="ctr"/>
            <a:r>
              <a:rPr kumimoji="1" lang="ja-JP" altLang="en-US" sz="1100" b="1" dirty="0"/>
              <a:t>助成事業申請に向けての情報共有</a:t>
            </a:r>
            <a:endParaRPr kumimoji="1" lang="en-US" altLang="ja-JP" sz="1100" b="1" dirty="0"/>
          </a:p>
        </p:txBody>
      </p: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BED097E3-BCF0-6131-493B-9BAD529F3BD3}"/>
              </a:ext>
            </a:extLst>
          </p:cNvPr>
          <p:cNvGrpSpPr/>
          <p:nvPr/>
        </p:nvGrpSpPr>
        <p:grpSpPr>
          <a:xfrm>
            <a:off x="513170" y="5733542"/>
            <a:ext cx="6021968" cy="1338462"/>
            <a:chOff x="513170" y="3534524"/>
            <a:chExt cx="6021968" cy="1338462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E2D76EC3-46BB-247F-5EBA-147777F277FD}"/>
                </a:ext>
              </a:extLst>
            </p:cNvPr>
            <p:cNvSpPr/>
            <p:nvPr/>
          </p:nvSpPr>
          <p:spPr>
            <a:xfrm>
              <a:off x="558050" y="3761934"/>
              <a:ext cx="2393986" cy="1103868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033762AD-F0DB-82B7-CABC-2ECC47016817}"/>
                </a:ext>
              </a:extLst>
            </p:cNvPr>
            <p:cNvSpPr txBox="1"/>
            <p:nvPr/>
          </p:nvSpPr>
          <p:spPr>
            <a:xfrm>
              <a:off x="521605" y="3534524"/>
              <a:ext cx="14363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6.</a:t>
              </a:r>
              <a:r>
                <a:rPr kumimoji="1" lang="ja-JP" altLang="en-US" sz="1100" b="1" dirty="0"/>
                <a:t>現状</a:t>
              </a:r>
              <a:endParaRPr kumimoji="1" lang="en-US" altLang="ja-JP" sz="1100" b="1" dirty="0"/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F51EAF25-30B1-1E64-B494-977F63846439}"/>
                </a:ext>
              </a:extLst>
            </p:cNvPr>
            <p:cNvSpPr/>
            <p:nvPr/>
          </p:nvSpPr>
          <p:spPr>
            <a:xfrm>
              <a:off x="3076392" y="3761934"/>
              <a:ext cx="3253691" cy="1100870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3391775D-70E4-947E-67EC-7F6AA5C856B8}"/>
                </a:ext>
              </a:extLst>
            </p:cNvPr>
            <p:cNvSpPr txBox="1"/>
            <p:nvPr/>
          </p:nvSpPr>
          <p:spPr>
            <a:xfrm>
              <a:off x="3025687" y="3534524"/>
              <a:ext cx="14363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7.</a:t>
              </a:r>
              <a:r>
                <a:rPr kumimoji="1" lang="ja-JP" altLang="en-US" sz="1100" b="1" dirty="0"/>
                <a:t>ゴール／成果目標</a:t>
              </a:r>
              <a:endParaRPr kumimoji="1" lang="en-US" altLang="ja-JP" sz="1100" b="1" dirty="0"/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DFCB04E2-A190-3170-D68D-F45FF626BEB6}"/>
                </a:ext>
              </a:extLst>
            </p:cNvPr>
            <p:cNvSpPr txBox="1"/>
            <p:nvPr/>
          </p:nvSpPr>
          <p:spPr>
            <a:xfrm>
              <a:off x="3089829" y="3811157"/>
              <a:ext cx="3445309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助成事業のゴール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商品完成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全体のゴール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・クラフト市で直販、</a:t>
              </a:r>
              <a:r>
                <a:rPr kumimoji="1" lang="en-US" altLang="ja-JP" sz="900" dirty="0" err="1">
                  <a:latin typeface="+mj-ea"/>
                  <a:ea typeface="+mj-ea"/>
                  <a:cs typeface="Times New Roman" panose="02020603050405020304" pitchFamily="18" charset="0"/>
                </a:rPr>
                <a:t>minne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en-US" altLang="ja-JP" sz="900" dirty="0" err="1">
                  <a:latin typeface="+mj-ea"/>
                  <a:ea typeface="+mj-ea"/>
                  <a:cs typeface="Times New Roman" panose="02020603050405020304" pitchFamily="18" charset="0"/>
                </a:rPr>
                <a:t>creema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en-US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BASE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・松森木工所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kumimoji="1" lang="en-US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HP</a:t>
              </a:r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内のオンラインショップにて販売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いわて特産品コンクール</a:t>
              </a:r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、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グッド・トイ受賞おもちゃへ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応募する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・盛岡市のウッド・スタート事業のギフトに選定される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52F8E31F-DC48-7D79-AB23-31741F528E4B}"/>
                </a:ext>
              </a:extLst>
            </p:cNvPr>
            <p:cNvSpPr txBox="1"/>
            <p:nvPr/>
          </p:nvSpPr>
          <p:spPr>
            <a:xfrm>
              <a:off x="513170" y="3800975"/>
              <a:ext cx="2431797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昨年度進捗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他社製品の分析→工業技術センターでの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試作→松森木工所にて試作→イベントで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　テストマーケティング</a:t>
              </a: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b="1" dirty="0">
                  <a:latin typeface="+mj-ea"/>
                  <a:ea typeface="+mj-ea"/>
                  <a:cs typeface="Times New Roman" panose="02020603050405020304" pitchFamily="18" charset="0"/>
                </a:rPr>
                <a:t>課題</a:t>
              </a:r>
              <a:endParaRPr kumimoji="1" lang="en-US" altLang="ja-JP" sz="900" b="1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・要コストダウン</a:t>
              </a:r>
              <a:endParaRPr kumimoji="1"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latin typeface="+mj-ea"/>
                  <a:ea typeface="+mj-ea"/>
                  <a:cs typeface="Times New Roman" panose="02020603050405020304" pitchFamily="18" charset="0"/>
                </a:rPr>
                <a:t>・パッケージデザイン未着手</a:t>
              </a:r>
            </a:p>
          </p:txBody>
        </p:sp>
      </p:grp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92DF074-43F9-4177-2C73-DF4A443C8CC6}"/>
              </a:ext>
            </a:extLst>
          </p:cNvPr>
          <p:cNvSpPr txBox="1"/>
          <p:nvPr/>
        </p:nvSpPr>
        <p:spPr>
          <a:xfrm>
            <a:off x="539562" y="5161814"/>
            <a:ext cx="19772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900" kern="100" dirty="0">
                <a:latin typeface="+mj-ea"/>
                <a:ea typeface="+mj-ea"/>
                <a:cs typeface="Times New Roman" panose="02020603050405020304" pitchFamily="18" charset="0"/>
              </a:rPr>
              <a:t>・</a:t>
            </a:r>
            <a:endParaRPr lang="en-US" altLang="ja-JP" sz="9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4D6C980-0B0A-8B5B-56A1-59ACE6E44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811" y="8778562"/>
            <a:ext cx="791945" cy="79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 descr="屋内, 古い, テーブル, 座る が含まれている画像&#10;&#10;自動的に生成された説明">
            <a:extLst>
              <a:ext uri="{FF2B5EF4-FFF2-40B4-BE49-F238E27FC236}">
                <a16:creationId xmlns:a16="http://schemas.microsoft.com/office/drawing/2014/main" id="{36B1AE1C-D3BE-1D3B-0BD0-8C8F140CBCF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87"/>
          <a:stretch/>
        </p:blipFill>
        <p:spPr>
          <a:xfrm>
            <a:off x="5667038" y="8775980"/>
            <a:ext cx="662680" cy="786912"/>
          </a:xfrm>
          <a:prstGeom prst="rect">
            <a:avLst/>
          </a:prstGeom>
        </p:spPr>
      </p:pic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C55C4E1B-11E4-053D-761D-BD1EC234AE14}"/>
              </a:ext>
            </a:extLst>
          </p:cNvPr>
          <p:cNvGrpSpPr/>
          <p:nvPr/>
        </p:nvGrpSpPr>
        <p:grpSpPr>
          <a:xfrm>
            <a:off x="481747" y="3512764"/>
            <a:ext cx="5945139" cy="2113082"/>
            <a:chOff x="513170" y="4884430"/>
            <a:chExt cx="5945139" cy="2113082"/>
          </a:xfrm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1B26DEC5-B14F-5C6E-EEC7-72CBE751F4F7}"/>
                </a:ext>
              </a:extLst>
            </p:cNvPr>
            <p:cNvSpPr/>
            <p:nvPr/>
          </p:nvSpPr>
          <p:spPr>
            <a:xfrm>
              <a:off x="2967153" y="5115157"/>
              <a:ext cx="3394353" cy="430240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AF065657-5122-732E-85C9-6E67C821E839}"/>
                </a:ext>
              </a:extLst>
            </p:cNvPr>
            <p:cNvSpPr/>
            <p:nvPr/>
          </p:nvSpPr>
          <p:spPr>
            <a:xfrm>
              <a:off x="2967153" y="5868594"/>
              <a:ext cx="3394352" cy="1128918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97B1025-18EF-6CA1-768F-3FF096A9F3D1}"/>
                </a:ext>
              </a:extLst>
            </p:cNvPr>
            <p:cNvSpPr txBox="1"/>
            <p:nvPr/>
          </p:nvSpPr>
          <p:spPr>
            <a:xfrm>
              <a:off x="2952035" y="5906008"/>
              <a:ext cx="3506274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形状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直径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45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㎜の木製コイン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型おもちゃ</a:t>
              </a:r>
              <a:endParaRPr lang="ja-JP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indent="193429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（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39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㎜以下は幼児の誤飲リスクがあるが、</a:t>
              </a:r>
            </a:p>
            <a:p>
              <a:pPr indent="290143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市販のものはサイズの小さいものがほとんど）</a:t>
              </a: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個数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最小セット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6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10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枚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を想定</a:t>
              </a:r>
              <a:endParaRPr lang="ja-JP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加工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レーザー彫刻機加工、面取り・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研磨・オイル塗装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は</a:t>
              </a:r>
              <a:endParaRPr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l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手作業</a:t>
              </a:r>
              <a:r>
                <a:rPr lang="ja-JP" altLang="ja-JP" sz="900" dirty="0">
                  <a:latin typeface="+mj-ea"/>
                  <a:ea typeface="+mj-ea"/>
                  <a:cs typeface="Times New Roman" panose="02020603050405020304" pitchFamily="18" charset="0"/>
                </a:rPr>
                <a:t>（製品化段階では授産施設への依頼を検討中）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ja-JP" altLang="en-US" sz="900" dirty="0">
                  <a:latin typeface="+mj-ea"/>
                  <a:ea typeface="+mj-ea"/>
                </a:rPr>
                <a:t>食品衛生法に基づく玩具の安全検査を実施予定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8477C21-05B7-ECE8-04A6-C994831C1094}"/>
                </a:ext>
              </a:extLst>
            </p:cNvPr>
            <p:cNvSpPr txBox="1"/>
            <p:nvPr/>
          </p:nvSpPr>
          <p:spPr>
            <a:xfrm>
              <a:off x="2965533" y="488443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4.</a:t>
              </a:r>
              <a:r>
                <a:rPr kumimoji="1" lang="ja-JP" altLang="en-US" sz="1100" b="1" dirty="0"/>
                <a:t>ターゲット</a:t>
              </a:r>
              <a:endParaRPr kumimoji="1" lang="en-US" altLang="ja-JP" sz="1100" b="1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76249BE-FEAD-B6E9-1008-F7D8453018CC}"/>
                </a:ext>
              </a:extLst>
            </p:cNvPr>
            <p:cNvSpPr txBox="1"/>
            <p:nvPr/>
          </p:nvSpPr>
          <p:spPr>
            <a:xfrm>
              <a:off x="2971515" y="561481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5.</a:t>
              </a:r>
              <a:r>
                <a:rPr kumimoji="1" lang="ja-JP" altLang="en-US" sz="1100" b="1" dirty="0"/>
                <a:t>仕様</a:t>
              </a:r>
              <a:endParaRPr kumimoji="1" lang="en-US" altLang="ja-JP" sz="1100" b="1" dirty="0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BE0D01F3-B613-0048-625F-FD27AB5B6B31}"/>
                </a:ext>
              </a:extLst>
            </p:cNvPr>
            <p:cNvSpPr/>
            <p:nvPr/>
          </p:nvSpPr>
          <p:spPr>
            <a:xfrm>
              <a:off x="547654" y="5115156"/>
              <a:ext cx="2319023" cy="1882355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6B3BDBD3-535A-AC8E-E7ED-3614B9673E11}"/>
                </a:ext>
              </a:extLst>
            </p:cNvPr>
            <p:cNvSpPr txBox="1"/>
            <p:nvPr/>
          </p:nvSpPr>
          <p:spPr>
            <a:xfrm>
              <a:off x="521605" y="4884430"/>
              <a:ext cx="11696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b="1" dirty="0"/>
                <a:t>3.</a:t>
              </a:r>
              <a:r>
                <a:rPr kumimoji="1" lang="ja-JP" altLang="en-US" sz="1100" b="1" dirty="0"/>
                <a:t>コンセプト</a:t>
              </a:r>
              <a:endParaRPr kumimoji="1" lang="en-US" altLang="ja-JP" sz="1100" b="1" dirty="0"/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6B7558EE-8DE6-D59C-B737-F3EB8AA6A416}"/>
                </a:ext>
              </a:extLst>
            </p:cNvPr>
            <p:cNvSpPr txBox="1"/>
            <p:nvPr/>
          </p:nvSpPr>
          <p:spPr>
            <a:xfrm>
              <a:off x="513170" y="5155427"/>
              <a:ext cx="2377574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kumimoji="1" lang="en-US" altLang="ja-JP" sz="900" dirty="0">
                  <a:solidFill>
                    <a:srgbClr val="80B4AA"/>
                  </a:solidFill>
                </a:rPr>
                <a:t> </a:t>
              </a:r>
              <a:r>
                <a:rPr kumimoji="1" lang="en-US" altLang="ja-JP" sz="900" dirty="0"/>
                <a:t>100</a:t>
              </a:r>
              <a:r>
                <a:rPr kumimoji="1" lang="ja-JP" altLang="en-US" sz="900" dirty="0"/>
                <a:t>年あそべる</a:t>
              </a:r>
              <a:endParaRPr kumimoji="1" lang="en-US" altLang="ja-JP" sz="900" dirty="0"/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・高品質の無垢材で劣化しにくい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・世代を越えて受け継がれる、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“タイムレス” なデザイン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　（タイムレス</a:t>
              </a:r>
              <a:r>
                <a:rPr kumimoji="1" lang="en-US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…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価値が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時</a:t>
              </a:r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の流れ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や流行に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　　　　　　　</a:t>
              </a:r>
              <a:r>
                <a:rPr lang="ja-JP" altLang="ja-JP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影響さ</a:t>
              </a:r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れない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）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en-US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マルチコイン</a:t>
              </a:r>
              <a:endParaRPr lang="en-US" altLang="ja-JP" sz="900" b="1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発達</a:t>
              </a:r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・個性に合わせた多様な遊びかた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・初めてでも</a:t>
              </a:r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遊べるシンプルさ</a:t>
              </a:r>
              <a:endParaRPr kumimoji="1" lang="en-US" altLang="ja-JP" sz="900" kern="100" dirty="0"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・硬貨をベースにしつつサイズを大きく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　することで、年齢・国籍問わず利用</a:t>
              </a:r>
              <a:endParaRPr kumimoji="1"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  <a:p>
              <a:pPr algn="just"/>
              <a:r>
                <a:rPr kumimoji="1"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kumimoji="1" lang="ja-JP" altLang="en-US" sz="900" kern="100" dirty="0">
                  <a:effectLst/>
                  <a:latin typeface="+mj-ea"/>
                  <a:ea typeface="+mj-ea"/>
                  <a:cs typeface="Times New Roman" panose="02020603050405020304" pitchFamily="18" charset="0"/>
                </a:rPr>
                <a:t>できる</a:t>
              </a:r>
              <a:endParaRPr lang="en-US" altLang="ja-JP" sz="9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14FC6CF1-3FEB-A447-5E21-7282B0344D21}"/>
                </a:ext>
              </a:extLst>
            </p:cNvPr>
            <p:cNvSpPr txBox="1"/>
            <p:nvPr/>
          </p:nvSpPr>
          <p:spPr>
            <a:xfrm>
              <a:off x="2952035" y="5168450"/>
              <a:ext cx="34283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購買ターゲット</a:t>
              </a:r>
              <a:r>
                <a:rPr lang="ja-JP" altLang="en-US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第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1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子が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才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未満の、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20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代後半～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代の母親</a:t>
              </a:r>
            </a:p>
            <a:p>
              <a:pPr algn="l"/>
              <a:r>
                <a:rPr kumimoji="1" lang="ja-JP" altLang="en-US" sz="900" dirty="0">
                  <a:solidFill>
                    <a:srgbClr val="80B4AA"/>
                  </a:solidFill>
                  <a:latin typeface="+mj-ea"/>
                  <a:ea typeface="+mj-ea"/>
                  <a:cs typeface="Times New Roman" panose="02020603050405020304" pitchFamily="18" charset="0"/>
                </a:rPr>
                <a:t>●</a:t>
              </a:r>
              <a:r>
                <a:rPr lang="ja-JP" altLang="ja-JP" sz="900" b="1" kern="100" dirty="0">
                  <a:latin typeface="+mj-ea"/>
                  <a:ea typeface="+mj-ea"/>
                  <a:cs typeface="Times New Roman" panose="02020603050405020304" pitchFamily="18" charset="0"/>
                </a:rPr>
                <a:t>メインユーザー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　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0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～</a:t>
              </a:r>
              <a:r>
                <a:rPr lang="en-US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3</a:t>
              </a:r>
              <a:r>
                <a:rPr lang="ja-JP" altLang="en-US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才</a:t>
              </a:r>
              <a:r>
                <a:rPr lang="ja-JP" altLang="ja-JP" sz="900" kern="100" dirty="0">
                  <a:latin typeface="+mj-ea"/>
                  <a:ea typeface="+mj-ea"/>
                  <a:cs typeface="Times New Roman" panose="02020603050405020304" pitchFamily="18" charset="0"/>
                </a:rPr>
                <a:t>児とその保護者</a:t>
              </a:r>
              <a:endParaRPr lang="en-US" altLang="ja-JP" sz="900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8A93552-C15E-DF8B-4354-72B4F4B999CE}"/>
              </a:ext>
            </a:extLst>
          </p:cNvPr>
          <p:cNvSpPr txBox="1"/>
          <p:nvPr/>
        </p:nvSpPr>
        <p:spPr>
          <a:xfrm>
            <a:off x="4234295" y="8191205"/>
            <a:ext cx="2073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+mj-ea"/>
                <a:ea typeface="+mj-ea"/>
                <a:cs typeface="Times New Roman" panose="02020603050405020304" pitchFamily="18" charset="0"/>
              </a:rPr>
              <a:t>おしゃぶりから、出し入れする、並べる、数える、お買い物ごっこ、ゲーム、インテリアなど、成長や個性に合わせて柔軟に遊びかたを変えられる</a:t>
            </a:r>
            <a:endParaRPr kumimoji="1" lang="en-US" altLang="ja-JP" sz="8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E4D66DA8-49E3-4A88-35A1-74C47C299533}"/>
              </a:ext>
            </a:extLst>
          </p:cNvPr>
          <p:cNvGrpSpPr/>
          <p:nvPr/>
        </p:nvGrpSpPr>
        <p:grpSpPr>
          <a:xfrm>
            <a:off x="527751" y="2177766"/>
            <a:ext cx="5802330" cy="1325771"/>
            <a:chOff x="547654" y="2187501"/>
            <a:chExt cx="5802330" cy="1434810"/>
          </a:xfrm>
        </p:grpSpPr>
        <p:sp>
          <p:nvSpPr>
            <p:cNvPr id="89" name="吹き出し: 右矢印 88">
              <a:extLst>
                <a:ext uri="{FF2B5EF4-FFF2-40B4-BE49-F238E27FC236}">
                  <a16:creationId xmlns:a16="http://schemas.microsoft.com/office/drawing/2014/main" id="{BDFB0E9A-7D43-8924-10D9-33709ABCCAF3}"/>
                </a:ext>
              </a:extLst>
            </p:cNvPr>
            <p:cNvSpPr/>
            <p:nvPr/>
          </p:nvSpPr>
          <p:spPr>
            <a:xfrm>
              <a:off x="547654" y="2191782"/>
              <a:ext cx="2775405" cy="467033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6974D730-F714-A215-CEC4-572292B0B8CE}"/>
                </a:ext>
              </a:extLst>
            </p:cNvPr>
            <p:cNvSpPr/>
            <p:nvPr/>
          </p:nvSpPr>
          <p:spPr>
            <a:xfrm>
              <a:off x="3363315" y="2187501"/>
              <a:ext cx="2986669" cy="467033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吹き出し: 右矢印 90">
              <a:extLst>
                <a:ext uri="{FF2B5EF4-FFF2-40B4-BE49-F238E27FC236}">
                  <a16:creationId xmlns:a16="http://schemas.microsoft.com/office/drawing/2014/main" id="{0E33E82D-65CC-986E-E3E9-FC779DE48BD0}"/>
                </a:ext>
              </a:extLst>
            </p:cNvPr>
            <p:cNvSpPr/>
            <p:nvPr/>
          </p:nvSpPr>
          <p:spPr>
            <a:xfrm>
              <a:off x="547654" y="2698686"/>
              <a:ext cx="2745039" cy="401443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A446D65C-0758-A1C2-D4E9-69F6694AEE81}"/>
                </a:ext>
              </a:extLst>
            </p:cNvPr>
            <p:cNvSpPr/>
            <p:nvPr/>
          </p:nvSpPr>
          <p:spPr>
            <a:xfrm>
              <a:off x="3363315" y="2694405"/>
              <a:ext cx="2986669" cy="401443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吹き出し: 右矢印 92">
              <a:extLst>
                <a:ext uri="{FF2B5EF4-FFF2-40B4-BE49-F238E27FC236}">
                  <a16:creationId xmlns:a16="http://schemas.microsoft.com/office/drawing/2014/main" id="{9C1F9887-F952-E1C7-FD47-5E7198C0C7D8}"/>
                </a:ext>
              </a:extLst>
            </p:cNvPr>
            <p:cNvSpPr/>
            <p:nvPr/>
          </p:nvSpPr>
          <p:spPr>
            <a:xfrm>
              <a:off x="547654" y="3148899"/>
              <a:ext cx="2745039" cy="473412"/>
            </a:xfrm>
            <a:prstGeom prst="rightArrowCallout">
              <a:avLst>
                <a:gd name="adj1" fmla="val 22143"/>
                <a:gd name="adj2" fmla="val 32856"/>
                <a:gd name="adj3" fmla="val 35714"/>
                <a:gd name="adj4" fmla="val 91062"/>
              </a:avLst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187FDFC5-E63F-A021-680A-969853E55B2D}"/>
                </a:ext>
              </a:extLst>
            </p:cNvPr>
            <p:cNvSpPr/>
            <p:nvPr/>
          </p:nvSpPr>
          <p:spPr>
            <a:xfrm>
              <a:off x="3363315" y="3144619"/>
              <a:ext cx="2986669" cy="473412"/>
            </a:xfrm>
            <a:prstGeom prst="rect">
              <a:avLst/>
            </a:prstGeom>
            <a:solidFill>
              <a:srgbClr val="CDE1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88C1BA3C-D4DA-5A25-A2AD-B2E9016DEA31}"/>
              </a:ext>
            </a:extLst>
          </p:cNvPr>
          <p:cNvGrpSpPr/>
          <p:nvPr/>
        </p:nvGrpSpPr>
        <p:grpSpPr>
          <a:xfrm>
            <a:off x="490182" y="2184403"/>
            <a:ext cx="5840068" cy="1341123"/>
            <a:chOff x="1489311" y="2425410"/>
            <a:chExt cx="3399493" cy="1103833"/>
          </a:xfrm>
        </p:grpSpPr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73F81B31-FBD8-5F21-ECA6-CAD000507E1A}"/>
                </a:ext>
              </a:extLst>
            </p:cNvPr>
            <p:cNvSpPr/>
            <p:nvPr/>
          </p:nvSpPr>
          <p:spPr>
            <a:xfrm>
              <a:off x="1489311" y="2425410"/>
              <a:ext cx="777243" cy="369332"/>
            </a:xfrm>
            <a:custGeom>
              <a:avLst/>
              <a:gdLst>
                <a:gd name="connsiteX0" fmla="*/ 0 w 777243"/>
                <a:gd name="connsiteY0" fmla="*/ 0 h 566107"/>
                <a:gd name="connsiteX1" fmla="*/ 494190 w 777243"/>
                <a:gd name="connsiteY1" fmla="*/ 0 h 566107"/>
                <a:gd name="connsiteX2" fmla="*/ 777243 w 777243"/>
                <a:gd name="connsiteY2" fmla="*/ 283054 h 566107"/>
                <a:gd name="connsiteX3" fmla="*/ 494190 w 777243"/>
                <a:gd name="connsiteY3" fmla="*/ 566107 h 566107"/>
                <a:gd name="connsiteX4" fmla="*/ 0 w 777243"/>
                <a:gd name="connsiteY4" fmla="*/ 566107 h 566107"/>
                <a:gd name="connsiteX5" fmla="*/ 283054 w 777243"/>
                <a:gd name="connsiteY5" fmla="*/ 283054 h 566107"/>
                <a:gd name="connsiteX6" fmla="*/ 0 w 777243"/>
                <a:gd name="connsiteY6" fmla="*/ 0 h 566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566107">
                  <a:moveTo>
                    <a:pt x="0" y="0"/>
                  </a:moveTo>
                  <a:lnTo>
                    <a:pt x="494190" y="0"/>
                  </a:lnTo>
                  <a:lnTo>
                    <a:pt x="777243" y="283054"/>
                  </a:lnTo>
                  <a:lnTo>
                    <a:pt x="494190" y="566107"/>
                  </a:lnTo>
                  <a:lnTo>
                    <a:pt x="0" y="566107"/>
                  </a:lnTo>
                  <a:lnTo>
                    <a:pt x="283054" y="28305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7024" tIns="6985" rIns="283053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期待</a:t>
              </a:r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354C319D-919C-95B3-A170-09DB487C2577}"/>
                </a:ext>
              </a:extLst>
            </p:cNvPr>
            <p:cNvSpPr/>
            <p:nvPr/>
          </p:nvSpPr>
          <p:spPr>
            <a:xfrm>
              <a:off x="1932501" y="2426262"/>
              <a:ext cx="1037925" cy="354096"/>
            </a:xfrm>
            <a:custGeom>
              <a:avLst/>
              <a:gdLst>
                <a:gd name="connsiteX0" fmla="*/ 0 w 1286657"/>
                <a:gd name="connsiteY0" fmla="*/ 0 h 469866"/>
                <a:gd name="connsiteX1" fmla="*/ 1051724 w 1286657"/>
                <a:gd name="connsiteY1" fmla="*/ 0 h 469866"/>
                <a:gd name="connsiteX2" fmla="*/ 1286657 w 1286657"/>
                <a:gd name="connsiteY2" fmla="*/ 234933 h 469866"/>
                <a:gd name="connsiteX3" fmla="*/ 1051724 w 1286657"/>
                <a:gd name="connsiteY3" fmla="*/ 469866 h 469866"/>
                <a:gd name="connsiteX4" fmla="*/ 0 w 1286657"/>
                <a:gd name="connsiteY4" fmla="*/ 469866 h 469866"/>
                <a:gd name="connsiteX5" fmla="*/ 234933 w 1286657"/>
                <a:gd name="connsiteY5" fmla="*/ 234933 h 469866"/>
                <a:gd name="connsiteX6" fmla="*/ 0 w 1286657"/>
                <a:gd name="connsiteY6" fmla="*/ 0 h 4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469866">
                  <a:moveTo>
                    <a:pt x="0" y="0"/>
                  </a:moveTo>
                  <a:lnTo>
                    <a:pt x="1051724" y="0"/>
                  </a:lnTo>
                  <a:lnTo>
                    <a:pt x="1286657" y="234933"/>
                  </a:lnTo>
                  <a:lnTo>
                    <a:pt x="1051724" y="469866"/>
                  </a:lnTo>
                  <a:lnTo>
                    <a:pt x="0" y="469866"/>
                  </a:lnTo>
                  <a:lnTo>
                    <a:pt x="234933" y="2349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283" tIns="3175" rIns="234933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・子どもの笑顔が見たい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ja-JP" altLang="en-US" sz="800" dirty="0">
                  <a:solidFill>
                    <a:sysClr val="windowText" lastClr="000000"/>
                  </a:solidFill>
                </a:rPr>
                <a:t>・学びにつなげたい</a:t>
              </a:r>
              <a:endParaRPr lang="en-US" altLang="ja-JP" sz="8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・可愛いものが欲しい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フリーフォーム: 図形 79">
              <a:extLst>
                <a:ext uri="{FF2B5EF4-FFF2-40B4-BE49-F238E27FC236}">
                  <a16:creationId xmlns:a16="http://schemas.microsoft.com/office/drawing/2014/main" id="{7363DE46-AEEE-EBED-F997-B8EA418496F6}"/>
                </a:ext>
              </a:extLst>
            </p:cNvPr>
            <p:cNvSpPr/>
            <p:nvPr/>
          </p:nvSpPr>
          <p:spPr>
            <a:xfrm>
              <a:off x="3050103" y="2426261"/>
              <a:ext cx="1831167" cy="354096"/>
            </a:xfrm>
            <a:custGeom>
              <a:avLst/>
              <a:gdLst>
                <a:gd name="connsiteX0" fmla="*/ 0 w 1526852"/>
                <a:gd name="connsiteY0" fmla="*/ 0 h 469866"/>
                <a:gd name="connsiteX1" fmla="*/ 1291919 w 1526852"/>
                <a:gd name="connsiteY1" fmla="*/ 0 h 469866"/>
                <a:gd name="connsiteX2" fmla="*/ 1526852 w 1526852"/>
                <a:gd name="connsiteY2" fmla="*/ 234933 h 469866"/>
                <a:gd name="connsiteX3" fmla="*/ 1291919 w 1526852"/>
                <a:gd name="connsiteY3" fmla="*/ 469866 h 469866"/>
                <a:gd name="connsiteX4" fmla="*/ 0 w 1526852"/>
                <a:gd name="connsiteY4" fmla="*/ 469866 h 469866"/>
                <a:gd name="connsiteX5" fmla="*/ 234933 w 1526852"/>
                <a:gd name="connsiteY5" fmla="*/ 234933 h 469866"/>
                <a:gd name="connsiteX6" fmla="*/ 0 w 1526852"/>
                <a:gd name="connsiteY6" fmla="*/ 0 h 46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469866">
                  <a:moveTo>
                    <a:pt x="0" y="0"/>
                  </a:moveTo>
                  <a:lnTo>
                    <a:pt x="1291919" y="0"/>
                  </a:lnTo>
                  <a:lnTo>
                    <a:pt x="1526852" y="234933"/>
                  </a:lnTo>
                  <a:lnTo>
                    <a:pt x="1291919" y="469866"/>
                  </a:lnTo>
                  <a:lnTo>
                    <a:pt x="0" y="469866"/>
                  </a:lnTo>
                  <a:lnTo>
                    <a:pt x="234933" y="234933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283" tIns="3175" rIns="234933" bIns="3175" numCol="1" spcCol="1270" anchor="ctr" anchorCtr="0">
              <a:noAutofit/>
            </a:bodyPr>
            <a:lstStyle/>
            <a:p>
              <a:pPr marL="0" lvl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b="0" kern="1200" dirty="0">
                  <a:solidFill>
                    <a:sysClr val="windowText" lastClr="000000"/>
                  </a:solidFill>
                  <a:latin typeface="+mn-ea"/>
                </a:rPr>
                <a:t>・飽きのこない上質なデザイン</a:t>
              </a:r>
              <a:endParaRPr lang="en-US" altLang="ja-JP" sz="800" b="0" kern="1200" dirty="0">
                <a:solidFill>
                  <a:sysClr val="windowText" lastClr="000000"/>
                </a:solidFill>
                <a:latin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・シンプルな本体と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遊びのバリエーション</a:t>
              </a:r>
              <a:endParaRPr lang="ja-JP" altLang="en-US" sz="800" kern="12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1" name="フリーフォーム: 図形 80">
              <a:extLst>
                <a:ext uri="{FF2B5EF4-FFF2-40B4-BE49-F238E27FC236}">
                  <a16:creationId xmlns:a16="http://schemas.microsoft.com/office/drawing/2014/main" id="{91BA49C8-DF30-E5A3-426D-2962FA242C2F}"/>
                </a:ext>
              </a:extLst>
            </p:cNvPr>
            <p:cNvSpPr/>
            <p:nvPr/>
          </p:nvSpPr>
          <p:spPr>
            <a:xfrm>
              <a:off x="1558340" y="3153898"/>
              <a:ext cx="700778" cy="375345"/>
            </a:xfrm>
            <a:custGeom>
              <a:avLst/>
              <a:gdLst>
                <a:gd name="connsiteX0" fmla="*/ 0 w 777243"/>
                <a:gd name="connsiteY0" fmla="*/ 0 h 310897"/>
                <a:gd name="connsiteX1" fmla="*/ 621795 w 777243"/>
                <a:gd name="connsiteY1" fmla="*/ 0 h 310897"/>
                <a:gd name="connsiteX2" fmla="*/ 777243 w 777243"/>
                <a:gd name="connsiteY2" fmla="*/ 155449 h 310897"/>
                <a:gd name="connsiteX3" fmla="*/ 621795 w 777243"/>
                <a:gd name="connsiteY3" fmla="*/ 310897 h 310897"/>
                <a:gd name="connsiteX4" fmla="*/ 0 w 777243"/>
                <a:gd name="connsiteY4" fmla="*/ 310897 h 310897"/>
                <a:gd name="connsiteX5" fmla="*/ 155449 w 777243"/>
                <a:gd name="connsiteY5" fmla="*/ 155449 h 310897"/>
                <a:gd name="connsiteX6" fmla="*/ 0 w 777243"/>
                <a:gd name="connsiteY6" fmla="*/ 0 h 3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310897">
                  <a:moveTo>
                    <a:pt x="0" y="0"/>
                  </a:moveTo>
                  <a:lnTo>
                    <a:pt x="621795" y="0"/>
                  </a:lnTo>
                  <a:lnTo>
                    <a:pt x="777243" y="155449"/>
                  </a:lnTo>
                  <a:lnTo>
                    <a:pt x="621795" y="310897"/>
                  </a:lnTo>
                  <a:lnTo>
                    <a:pt x="0" y="310897"/>
                  </a:lnTo>
                  <a:lnTo>
                    <a:pt x="155449" y="15544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9419" tIns="6985" rIns="155448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コスト</a:t>
              </a:r>
            </a:p>
          </p:txBody>
        </p:sp>
        <p:sp>
          <p:nvSpPr>
            <p:cNvPr id="82" name="フリーフォーム: 図形 81">
              <a:extLst>
                <a:ext uri="{FF2B5EF4-FFF2-40B4-BE49-F238E27FC236}">
                  <a16:creationId xmlns:a16="http://schemas.microsoft.com/office/drawing/2014/main" id="{613C3865-8DEC-CF8E-F09C-C77ED358DCB3}"/>
                </a:ext>
              </a:extLst>
            </p:cNvPr>
            <p:cNvSpPr/>
            <p:nvPr/>
          </p:nvSpPr>
          <p:spPr>
            <a:xfrm>
              <a:off x="1984852" y="3175103"/>
              <a:ext cx="985575" cy="311536"/>
            </a:xfrm>
            <a:custGeom>
              <a:avLst/>
              <a:gdLst>
                <a:gd name="connsiteX0" fmla="*/ 0 w 1286657"/>
                <a:gd name="connsiteY0" fmla="*/ 0 h 258044"/>
                <a:gd name="connsiteX1" fmla="*/ 1157635 w 1286657"/>
                <a:gd name="connsiteY1" fmla="*/ 0 h 258044"/>
                <a:gd name="connsiteX2" fmla="*/ 1286657 w 1286657"/>
                <a:gd name="connsiteY2" fmla="*/ 129022 h 258044"/>
                <a:gd name="connsiteX3" fmla="*/ 1157635 w 1286657"/>
                <a:gd name="connsiteY3" fmla="*/ 258044 h 258044"/>
                <a:gd name="connsiteX4" fmla="*/ 0 w 1286657"/>
                <a:gd name="connsiteY4" fmla="*/ 258044 h 258044"/>
                <a:gd name="connsiteX5" fmla="*/ 129022 w 1286657"/>
                <a:gd name="connsiteY5" fmla="*/ 129022 h 258044"/>
                <a:gd name="connsiteX6" fmla="*/ 0 w 1286657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258044">
                  <a:moveTo>
                    <a:pt x="0" y="0"/>
                  </a:moveTo>
                  <a:lnTo>
                    <a:pt x="1157635" y="0"/>
                  </a:lnTo>
                  <a:lnTo>
                    <a:pt x="1286657" y="129022"/>
                  </a:lnTo>
                  <a:lnTo>
                    <a:pt x="1157635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・木のおもちゃは高い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・手入れが面倒そう</a:t>
              </a:r>
            </a:p>
          </p:txBody>
        </p:sp>
        <p:sp>
          <p:nvSpPr>
            <p:cNvPr id="83" name="フリーフォーム: 図形 82">
              <a:extLst>
                <a:ext uri="{FF2B5EF4-FFF2-40B4-BE49-F238E27FC236}">
                  <a16:creationId xmlns:a16="http://schemas.microsoft.com/office/drawing/2014/main" id="{0A388AC9-439A-8F99-4F6C-7B3F3DF65923}"/>
                </a:ext>
              </a:extLst>
            </p:cNvPr>
            <p:cNvSpPr/>
            <p:nvPr/>
          </p:nvSpPr>
          <p:spPr>
            <a:xfrm>
              <a:off x="3101528" y="3175103"/>
              <a:ext cx="1779742" cy="311536"/>
            </a:xfrm>
            <a:custGeom>
              <a:avLst/>
              <a:gdLst>
                <a:gd name="connsiteX0" fmla="*/ 0 w 1526852"/>
                <a:gd name="connsiteY0" fmla="*/ 0 h 258044"/>
                <a:gd name="connsiteX1" fmla="*/ 1397830 w 1526852"/>
                <a:gd name="connsiteY1" fmla="*/ 0 h 258044"/>
                <a:gd name="connsiteX2" fmla="*/ 1526852 w 1526852"/>
                <a:gd name="connsiteY2" fmla="*/ 129022 h 258044"/>
                <a:gd name="connsiteX3" fmla="*/ 1397830 w 1526852"/>
                <a:gd name="connsiteY3" fmla="*/ 258044 h 258044"/>
                <a:gd name="connsiteX4" fmla="*/ 0 w 1526852"/>
                <a:gd name="connsiteY4" fmla="*/ 258044 h 258044"/>
                <a:gd name="connsiteX5" fmla="*/ 129022 w 1526852"/>
                <a:gd name="connsiteY5" fmla="*/ 129022 h 258044"/>
                <a:gd name="connsiteX6" fmla="*/ 0 w 1526852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258044">
                  <a:moveTo>
                    <a:pt x="0" y="0"/>
                  </a:moveTo>
                  <a:lnTo>
                    <a:pt x="1397830" y="0"/>
                  </a:lnTo>
                  <a:lnTo>
                    <a:pt x="1526852" y="129022"/>
                  </a:lnTo>
                  <a:lnTo>
                    <a:pt x="1397830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・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デザインや加工法でコスト</a:t>
              </a: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ダウンを</a:t>
              </a:r>
              <a:r>
                <a:rPr lang="ja-JP" altLang="en-US" sz="8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目指す</a:t>
              </a:r>
              <a:endParaRPr lang="ja-JP" altLang="ja-JP" sz="800" kern="1200" dirty="0">
                <a:solidFill>
                  <a:sysClr val="windowText" lastClr="000000"/>
                </a:solidFill>
                <a:effectLst/>
                <a:latin typeface="+mn-ea"/>
                <a:cs typeface="Times New Roman" panose="02020603050405020304" pitchFamily="18" charset="0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・</a:t>
              </a:r>
              <a:r>
                <a:rPr lang="ja-JP" altLang="ja-JP" sz="800" kern="1200" dirty="0">
                  <a:solidFill>
                    <a:sysClr val="windowText" lastClr="000000"/>
                  </a:solidFill>
                  <a:effectLst/>
                  <a:latin typeface="+mn-ea"/>
                  <a:cs typeface="Times New Roman" panose="02020603050405020304" pitchFamily="18" charset="0"/>
                </a:rPr>
                <a:t>ネット販売ではお試し購入や返品保証を充実させる</a:t>
              </a:r>
              <a:endParaRPr lang="en-US" altLang="ja-JP" sz="800" kern="1200" dirty="0">
                <a:solidFill>
                  <a:sysClr val="windowText" lastClr="000000"/>
                </a:solidFill>
                <a:effectLst/>
                <a:latin typeface="+mn-ea"/>
                <a:cs typeface="Times New Roman" panose="02020603050405020304" pitchFamily="18" charset="0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dirty="0">
                  <a:solidFill>
                    <a:sysClr val="windowText" lastClr="000000"/>
                  </a:solidFill>
                  <a:latin typeface="+mn-ea"/>
                  <a:cs typeface="Times New Roman" panose="02020603050405020304" pitchFamily="18" charset="0"/>
                </a:rPr>
                <a:t>・付属冊子で手入れ方法についても記載</a:t>
              </a:r>
              <a:endParaRPr lang="ja-JP" altLang="en-US" sz="800" kern="12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4" name="フリーフォーム: 図形 83">
              <a:extLst>
                <a:ext uri="{FF2B5EF4-FFF2-40B4-BE49-F238E27FC236}">
                  <a16:creationId xmlns:a16="http://schemas.microsoft.com/office/drawing/2014/main" id="{6E396DFD-F4DC-4586-9745-F5F30B04669B}"/>
                </a:ext>
              </a:extLst>
            </p:cNvPr>
            <p:cNvSpPr/>
            <p:nvPr/>
          </p:nvSpPr>
          <p:spPr>
            <a:xfrm>
              <a:off x="1565777" y="2826428"/>
              <a:ext cx="700778" cy="310897"/>
            </a:xfrm>
            <a:custGeom>
              <a:avLst/>
              <a:gdLst>
                <a:gd name="connsiteX0" fmla="*/ 0 w 777243"/>
                <a:gd name="connsiteY0" fmla="*/ 0 h 310897"/>
                <a:gd name="connsiteX1" fmla="*/ 621795 w 777243"/>
                <a:gd name="connsiteY1" fmla="*/ 0 h 310897"/>
                <a:gd name="connsiteX2" fmla="*/ 777243 w 777243"/>
                <a:gd name="connsiteY2" fmla="*/ 155449 h 310897"/>
                <a:gd name="connsiteX3" fmla="*/ 621795 w 777243"/>
                <a:gd name="connsiteY3" fmla="*/ 310897 h 310897"/>
                <a:gd name="connsiteX4" fmla="*/ 0 w 777243"/>
                <a:gd name="connsiteY4" fmla="*/ 310897 h 310897"/>
                <a:gd name="connsiteX5" fmla="*/ 155449 w 777243"/>
                <a:gd name="connsiteY5" fmla="*/ 155449 h 310897"/>
                <a:gd name="connsiteX6" fmla="*/ 0 w 777243"/>
                <a:gd name="connsiteY6" fmla="*/ 0 h 310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7243" h="310897">
                  <a:moveTo>
                    <a:pt x="0" y="0"/>
                  </a:moveTo>
                  <a:lnTo>
                    <a:pt x="621795" y="0"/>
                  </a:lnTo>
                  <a:lnTo>
                    <a:pt x="777243" y="155449"/>
                  </a:lnTo>
                  <a:lnTo>
                    <a:pt x="621795" y="310897"/>
                  </a:lnTo>
                  <a:lnTo>
                    <a:pt x="0" y="310897"/>
                  </a:lnTo>
                  <a:lnTo>
                    <a:pt x="155449" y="155449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9419" tIns="6985" rIns="155448" bIns="6985" numCol="1" spcCol="1270" anchor="ctr" anchorCtr="0">
              <a:noAutofit/>
            </a:bodyPr>
            <a:lstStyle/>
            <a:p>
              <a:pPr marL="0" lvl="0" indent="0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1100" kern="1200" dirty="0">
                  <a:solidFill>
                    <a:sysClr val="windowText" lastClr="000000"/>
                  </a:solidFill>
                </a:rPr>
                <a:t>不安</a:t>
              </a:r>
            </a:p>
          </p:txBody>
        </p:sp>
        <p:sp>
          <p:nvSpPr>
            <p:cNvPr id="85" name="フリーフォーム: 図形 84">
              <a:extLst>
                <a:ext uri="{FF2B5EF4-FFF2-40B4-BE49-F238E27FC236}">
                  <a16:creationId xmlns:a16="http://schemas.microsoft.com/office/drawing/2014/main" id="{580E38DE-DE7B-A44B-28E4-BB82FF5CA18B}"/>
                </a:ext>
              </a:extLst>
            </p:cNvPr>
            <p:cNvSpPr/>
            <p:nvPr/>
          </p:nvSpPr>
          <p:spPr>
            <a:xfrm>
              <a:off x="1992386" y="2845742"/>
              <a:ext cx="985575" cy="258044"/>
            </a:xfrm>
            <a:custGeom>
              <a:avLst/>
              <a:gdLst>
                <a:gd name="connsiteX0" fmla="*/ 0 w 1286657"/>
                <a:gd name="connsiteY0" fmla="*/ 0 h 258044"/>
                <a:gd name="connsiteX1" fmla="*/ 1157635 w 1286657"/>
                <a:gd name="connsiteY1" fmla="*/ 0 h 258044"/>
                <a:gd name="connsiteX2" fmla="*/ 1286657 w 1286657"/>
                <a:gd name="connsiteY2" fmla="*/ 129022 h 258044"/>
                <a:gd name="connsiteX3" fmla="*/ 1157635 w 1286657"/>
                <a:gd name="connsiteY3" fmla="*/ 258044 h 258044"/>
                <a:gd name="connsiteX4" fmla="*/ 0 w 1286657"/>
                <a:gd name="connsiteY4" fmla="*/ 258044 h 258044"/>
                <a:gd name="connsiteX5" fmla="*/ 129022 w 1286657"/>
                <a:gd name="connsiteY5" fmla="*/ 129022 h 258044"/>
                <a:gd name="connsiteX6" fmla="*/ 0 w 1286657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6657" h="258044">
                  <a:moveTo>
                    <a:pt x="0" y="0"/>
                  </a:moveTo>
                  <a:lnTo>
                    <a:pt x="1157635" y="0"/>
                  </a:lnTo>
                  <a:lnTo>
                    <a:pt x="1286657" y="129022"/>
                  </a:lnTo>
                  <a:lnTo>
                    <a:pt x="1157635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・何を選べばいいか分からない</a:t>
              </a:r>
              <a:endParaRPr lang="en-US" altLang="ja-JP" sz="800" kern="1200" dirty="0">
                <a:solidFill>
                  <a:sysClr val="windowText" lastClr="000000"/>
                </a:solidFill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</a:rPr>
                <a:t>・すぐに飽きるかも</a:t>
              </a:r>
            </a:p>
          </p:txBody>
        </p:sp>
        <p:sp>
          <p:nvSpPr>
            <p:cNvPr id="86" name="フリーフォーム: 図形 85">
              <a:extLst>
                <a:ext uri="{FF2B5EF4-FFF2-40B4-BE49-F238E27FC236}">
                  <a16:creationId xmlns:a16="http://schemas.microsoft.com/office/drawing/2014/main" id="{FB10F8AF-E13D-3A3D-4E28-C2B25144D418}"/>
                </a:ext>
              </a:extLst>
            </p:cNvPr>
            <p:cNvSpPr/>
            <p:nvPr/>
          </p:nvSpPr>
          <p:spPr>
            <a:xfrm>
              <a:off x="3109062" y="2845742"/>
              <a:ext cx="1779742" cy="258044"/>
            </a:xfrm>
            <a:custGeom>
              <a:avLst/>
              <a:gdLst>
                <a:gd name="connsiteX0" fmla="*/ 0 w 1526852"/>
                <a:gd name="connsiteY0" fmla="*/ 0 h 258044"/>
                <a:gd name="connsiteX1" fmla="*/ 1397830 w 1526852"/>
                <a:gd name="connsiteY1" fmla="*/ 0 h 258044"/>
                <a:gd name="connsiteX2" fmla="*/ 1526852 w 1526852"/>
                <a:gd name="connsiteY2" fmla="*/ 129022 h 258044"/>
                <a:gd name="connsiteX3" fmla="*/ 1397830 w 1526852"/>
                <a:gd name="connsiteY3" fmla="*/ 258044 h 258044"/>
                <a:gd name="connsiteX4" fmla="*/ 0 w 1526852"/>
                <a:gd name="connsiteY4" fmla="*/ 258044 h 258044"/>
                <a:gd name="connsiteX5" fmla="*/ 129022 w 1526852"/>
                <a:gd name="connsiteY5" fmla="*/ 129022 h 258044"/>
                <a:gd name="connsiteX6" fmla="*/ 0 w 1526852"/>
                <a:gd name="connsiteY6" fmla="*/ 0 h 25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52" h="258044">
                  <a:moveTo>
                    <a:pt x="0" y="0"/>
                  </a:moveTo>
                  <a:lnTo>
                    <a:pt x="1397830" y="0"/>
                  </a:lnTo>
                  <a:lnTo>
                    <a:pt x="1526852" y="129022"/>
                  </a:lnTo>
                  <a:lnTo>
                    <a:pt x="1397830" y="258044"/>
                  </a:lnTo>
                  <a:lnTo>
                    <a:pt x="0" y="258044"/>
                  </a:lnTo>
                  <a:lnTo>
                    <a:pt x="129022" y="129022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5372" tIns="3175" rIns="129022" bIns="3175" numCol="1" spcCol="1270" anchor="ctr" anchorCtr="0">
              <a:noAutofit/>
            </a:bodyPr>
            <a:lstStyle/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・パッケージ、付属冊子等で遊びかたをアドバイス</a:t>
              </a:r>
              <a:endParaRPr lang="en-US" altLang="ja-JP" sz="800" kern="1200" dirty="0">
                <a:solidFill>
                  <a:sysClr val="windowText" lastClr="000000"/>
                </a:solidFill>
                <a:latin typeface="+mn-ea"/>
              </a:endParaRPr>
            </a:p>
            <a:p>
              <a:pPr marL="0" lvl="0" indent="0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・</a:t>
              </a:r>
              <a:r>
                <a:rPr lang="en-US" altLang="ja-JP" sz="800" kern="1200" dirty="0">
                  <a:solidFill>
                    <a:sysClr val="windowText" lastClr="000000"/>
                  </a:solidFill>
                  <a:latin typeface="+mn-ea"/>
                </a:rPr>
                <a:t>SNS</a:t>
              </a:r>
              <a:r>
                <a:rPr lang="ja-JP" altLang="en-US" sz="800" kern="1200" dirty="0">
                  <a:solidFill>
                    <a:sysClr val="windowText" lastClr="000000"/>
                  </a:solidFill>
                  <a:latin typeface="+mn-ea"/>
                </a:rPr>
                <a:t>で購入者の声や実例を紹介</a:t>
              </a:r>
            </a:p>
          </p:txBody>
        </p:sp>
      </p:grpSp>
      <p:pic>
        <p:nvPicPr>
          <p:cNvPr id="3" name="図 2" descr="ロゴ&#10;&#10;自動的に生成された説明">
            <a:extLst>
              <a:ext uri="{FF2B5EF4-FFF2-40B4-BE49-F238E27FC236}">
                <a16:creationId xmlns:a16="http://schemas.microsoft.com/office/drawing/2014/main" id="{A00E4DE8-23E9-4451-16D3-4AD187BF42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910" y="640280"/>
            <a:ext cx="782526" cy="78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62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1726</TotalTime>
  <Words>1824</Words>
  <Application>Microsoft Office PowerPoint</Application>
  <PresentationFormat>A4 210 x 297 mm</PresentationFormat>
  <Paragraphs>356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ＭＳ ゴシック</vt:lpstr>
      <vt:lpstr>ＭＳ 明朝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紗希 新田</dc:creator>
  <cp:lastModifiedBy>紗希 新田</cp:lastModifiedBy>
  <cp:revision>15</cp:revision>
  <cp:lastPrinted>2024-04-03T10:52:43Z</cp:lastPrinted>
  <dcterms:created xsi:type="dcterms:W3CDTF">2024-04-01T03:56:25Z</dcterms:created>
  <dcterms:modified xsi:type="dcterms:W3CDTF">2024-04-03T10:56:55Z</dcterms:modified>
</cp:coreProperties>
</file>