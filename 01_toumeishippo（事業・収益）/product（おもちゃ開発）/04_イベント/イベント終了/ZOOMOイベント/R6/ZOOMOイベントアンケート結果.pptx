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2" r:id="rId5"/>
    <p:sldId id="259" r:id="rId6"/>
    <p:sldId id="261" r:id="rId7"/>
    <p:sldId id="260" r:id="rId8"/>
    <p:sldId id="263" r:id="rId9"/>
    <p:sldId id="264" r:id="rId10"/>
    <p:sldId id="265" r:id="rId11"/>
    <p:sldId id="266" r:id="rId12"/>
    <p:sldId id="267"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20181;&#20107;\1.&#12392;&#12358;&#12417;&#12356;&#12375;&#12387;&#12413;\2-3%20&#29609;&#20855;&#20225;&#30011;\1.&#21161;&#25104;&#37329;\R6&#30427;&#23713;&#24066;&#26862;&#26519;&#12389;&#12363;&#12356;&#12452;&#12494;&#12505;&#12540;&#12471;&#12519;&#12531;&#20107;&#26989;\&#26519;&#25919;&#35506;&#12288;&#32066;&#20102;\ZOOMO&#12452;&#12505;&#12531;&#12488;\20241109&#12539;10&#12288;ZOOMO&#12452;&#12505;&#12531;&#12488;&#20225;&#30011;.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dPt>
            <c:idx val="0"/>
            <c:bubble3D val="0"/>
            <c:spPr>
              <a:solidFill>
                <a:schemeClr val="accent6">
                  <a:shade val="76000"/>
                </a:schemeClr>
              </a:solidFill>
              <a:ln w="19050">
                <a:solidFill>
                  <a:schemeClr val="lt1"/>
                </a:solidFill>
              </a:ln>
              <a:effectLst/>
            </c:spPr>
            <c:extLst>
              <c:ext xmlns:c16="http://schemas.microsoft.com/office/drawing/2014/chart" uri="{C3380CC4-5D6E-409C-BE32-E72D297353CC}">
                <c16:uniqueId val="{00000001-E5BB-4953-8DDB-81B25AC44376}"/>
              </c:ext>
            </c:extLst>
          </c:dPt>
          <c:dPt>
            <c:idx val="1"/>
            <c:bubble3D val="0"/>
            <c:spPr>
              <a:solidFill>
                <a:schemeClr val="accent6">
                  <a:tint val="77000"/>
                </a:schemeClr>
              </a:solidFill>
              <a:ln w="19050">
                <a:solidFill>
                  <a:schemeClr val="lt1"/>
                </a:solidFill>
              </a:ln>
              <a:effectLst/>
            </c:spPr>
            <c:extLst>
              <c:ext xmlns:c16="http://schemas.microsoft.com/office/drawing/2014/chart" uri="{C3380CC4-5D6E-409C-BE32-E72D297353CC}">
                <c16:uniqueId val="{00000003-E5BB-4953-8DDB-81B25AC44376}"/>
              </c:ext>
            </c:extLst>
          </c:dPt>
          <c:dLbls>
            <c:dLbl>
              <c:idx val="0"/>
              <c:layout>
                <c:manualLayout>
                  <c:x val="6.7261972688196581E-3"/>
                  <c:y val="-0.5988339678508082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5BB-4953-8DDB-81B25AC44376}"/>
                </c:ext>
              </c:extLst>
            </c:dLbl>
            <c:dLbl>
              <c:idx val="1"/>
              <c:layout>
                <c:manualLayout>
                  <c:x val="-1.9106375290045267E-2"/>
                  <c:y val="-4.7309815969248999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5BB-4953-8DDB-81B25AC44376}"/>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単純集計表!$C$3:$D$3</c:f>
              <c:strCache>
                <c:ptCount val="2"/>
                <c:pt idx="0">
                  <c:v>盛岡市内</c:v>
                </c:pt>
                <c:pt idx="1">
                  <c:v>盛岡市外</c:v>
                </c:pt>
              </c:strCache>
            </c:strRef>
          </c:cat>
          <c:val>
            <c:numRef>
              <c:f>単純集計表!$C$4:$D$4</c:f>
              <c:numCache>
                <c:formatCode>General</c:formatCode>
                <c:ptCount val="2"/>
                <c:pt idx="0">
                  <c:v>20</c:v>
                </c:pt>
                <c:pt idx="1">
                  <c:v>10</c:v>
                </c:pt>
              </c:numCache>
            </c:numRef>
          </c:val>
          <c:extLst>
            <c:ext xmlns:c16="http://schemas.microsoft.com/office/drawing/2014/chart" uri="{C3380CC4-5D6E-409C-BE32-E72D297353CC}">
              <c16:uniqueId val="{00000004-E5BB-4953-8DDB-81B25AC44376}"/>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dPt>
            <c:idx val="0"/>
            <c:bubble3D val="0"/>
            <c:spPr>
              <a:solidFill>
                <a:schemeClr val="accent6">
                  <a:shade val="50000"/>
                </a:schemeClr>
              </a:solidFill>
              <a:ln w="19050">
                <a:solidFill>
                  <a:schemeClr val="lt1"/>
                </a:solidFill>
              </a:ln>
              <a:effectLst/>
            </c:spPr>
            <c:extLst>
              <c:ext xmlns:c16="http://schemas.microsoft.com/office/drawing/2014/chart" uri="{C3380CC4-5D6E-409C-BE32-E72D297353CC}">
                <c16:uniqueId val="{00000001-B24E-45FF-9FF2-4540F1FCB941}"/>
              </c:ext>
            </c:extLst>
          </c:dPt>
          <c:dPt>
            <c:idx val="1"/>
            <c:bubble3D val="0"/>
            <c:spPr>
              <a:solidFill>
                <a:schemeClr val="accent6">
                  <a:shade val="70000"/>
                </a:schemeClr>
              </a:solidFill>
              <a:ln w="19050">
                <a:solidFill>
                  <a:schemeClr val="lt1"/>
                </a:solidFill>
              </a:ln>
              <a:effectLst/>
            </c:spPr>
            <c:extLst>
              <c:ext xmlns:c16="http://schemas.microsoft.com/office/drawing/2014/chart" uri="{C3380CC4-5D6E-409C-BE32-E72D297353CC}">
                <c16:uniqueId val="{00000003-B24E-45FF-9FF2-4540F1FCB941}"/>
              </c:ext>
            </c:extLst>
          </c:dPt>
          <c:dPt>
            <c:idx val="2"/>
            <c:bubble3D val="0"/>
            <c:spPr>
              <a:solidFill>
                <a:schemeClr val="accent6">
                  <a:shade val="90000"/>
                </a:schemeClr>
              </a:solidFill>
              <a:ln w="19050">
                <a:solidFill>
                  <a:schemeClr val="lt1"/>
                </a:solidFill>
              </a:ln>
              <a:effectLst/>
            </c:spPr>
            <c:extLst>
              <c:ext xmlns:c16="http://schemas.microsoft.com/office/drawing/2014/chart" uri="{C3380CC4-5D6E-409C-BE32-E72D297353CC}">
                <c16:uniqueId val="{00000005-B24E-45FF-9FF2-4540F1FCB941}"/>
              </c:ext>
            </c:extLst>
          </c:dPt>
          <c:dPt>
            <c:idx val="3"/>
            <c:bubble3D val="0"/>
            <c:spPr>
              <a:solidFill>
                <a:schemeClr val="accent6">
                  <a:tint val="90000"/>
                </a:schemeClr>
              </a:solidFill>
              <a:ln w="19050">
                <a:solidFill>
                  <a:schemeClr val="lt1"/>
                </a:solidFill>
              </a:ln>
              <a:effectLst/>
            </c:spPr>
            <c:extLst>
              <c:ext xmlns:c16="http://schemas.microsoft.com/office/drawing/2014/chart" uri="{C3380CC4-5D6E-409C-BE32-E72D297353CC}">
                <c16:uniqueId val="{00000007-B24E-45FF-9FF2-4540F1FCB941}"/>
              </c:ext>
            </c:extLst>
          </c:dPt>
          <c:dPt>
            <c:idx val="4"/>
            <c:bubble3D val="0"/>
            <c:spPr>
              <a:solidFill>
                <a:schemeClr val="accent6">
                  <a:tint val="70000"/>
                </a:schemeClr>
              </a:solidFill>
              <a:ln w="19050">
                <a:solidFill>
                  <a:schemeClr val="lt1"/>
                </a:solidFill>
              </a:ln>
              <a:effectLst/>
            </c:spPr>
            <c:extLst>
              <c:ext xmlns:c16="http://schemas.microsoft.com/office/drawing/2014/chart" uri="{C3380CC4-5D6E-409C-BE32-E72D297353CC}">
                <c16:uniqueId val="{00000009-B24E-45FF-9FF2-4540F1FCB941}"/>
              </c:ext>
            </c:extLst>
          </c:dPt>
          <c:dPt>
            <c:idx val="5"/>
            <c:bubble3D val="0"/>
            <c:spPr>
              <a:solidFill>
                <a:schemeClr val="accent6">
                  <a:tint val="50000"/>
                </a:schemeClr>
              </a:solidFill>
              <a:ln w="19050">
                <a:solidFill>
                  <a:schemeClr val="lt1"/>
                </a:solidFill>
              </a:ln>
              <a:effectLst/>
            </c:spPr>
            <c:extLst>
              <c:ext xmlns:c16="http://schemas.microsoft.com/office/drawing/2014/chart" uri="{C3380CC4-5D6E-409C-BE32-E72D297353CC}">
                <c16:uniqueId val="{0000000B-B24E-45FF-9FF2-4540F1FCB941}"/>
              </c:ext>
            </c:extLst>
          </c:dPt>
          <c:dLbls>
            <c:dLbl>
              <c:idx val="0"/>
              <c:layout>
                <c:manualLayout>
                  <c:x val="-0.27152865266841647"/>
                  <c:y val="4.6296296296296294E-3"/>
                </c:manualLayout>
              </c:layout>
              <c:tx>
                <c:rich>
                  <a:bodyPr rot="0" spcFirstLastPara="1" vertOverflow="ellipsis" vert="horz" wrap="square" lIns="38100" tIns="19050" rIns="38100" bIns="19050" anchor="ctr" anchorCtr="0">
                    <a:spAutoFit/>
                  </a:bodyPr>
                  <a:lstStyle/>
                  <a:p>
                    <a:pPr algn="l">
                      <a:defRPr sz="2400" b="0" i="0" u="none" strike="noStrike" kern="1200" baseline="0">
                        <a:solidFill>
                          <a:schemeClr val="tx1">
                            <a:lumMod val="75000"/>
                            <a:lumOff val="25000"/>
                          </a:schemeClr>
                        </a:solidFill>
                        <a:latin typeface="+mn-lt"/>
                        <a:ea typeface="+mn-ea"/>
                        <a:cs typeface="+mn-cs"/>
                      </a:defRPr>
                    </a:pPr>
                    <a:fld id="{6CA0D91C-860C-403C-9291-6AEE69FDF6B4}" type="CATEGORYNAME">
                      <a:rPr lang="ja-JP" altLang="en-US" sz="2400" b="0"/>
                      <a:pPr algn="l">
                        <a:defRPr sz="2400"/>
                      </a:pPr>
                      <a:t>[分類名]</a:t>
                    </a:fld>
                    <a:r>
                      <a:rPr lang="ja-JP" altLang="en-US" sz="2400" b="0" baseline="0"/>
                      <a:t> </a:t>
                    </a:r>
                  </a:p>
                  <a:p>
                    <a:pPr algn="l">
                      <a:defRPr sz="2400"/>
                    </a:pPr>
                    <a:fld id="{ACCC42BA-04CF-451B-A341-95E073FE1D5F}" type="PERCENTAGE">
                      <a:rPr lang="en-US" altLang="ja-JP" sz="2400" b="0" baseline="0"/>
                      <a:pPr algn="l">
                        <a:defRPr sz="2400"/>
                      </a:pPr>
                      <a:t>[パーセンテージ]</a:t>
                    </a:fld>
                    <a:endParaRPr lang="ja-JP" altLang="en-US"/>
                  </a:p>
                </c:rich>
              </c:tx>
              <c:spPr>
                <a:noFill/>
                <a:ln>
                  <a:noFill/>
                </a:ln>
                <a:effectLst/>
              </c:spPr>
              <c:txPr>
                <a:bodyPr rot="0" spcFirstLastPara="1" vertOverflow="ellipsis" vert="horz" wrap="square" lIns="38100" tIns="19050" rIns="38100" bIns="19050" anchor="ctr" anchorCtr="0">
                  <a:spAutoFit/>
                </a:bodyPr>
                <a:lstStyle/>
                <a:p>
                  <a:pPr algn="l">
                    <a:defRPr sz="2400" b="0" i="0" u="none" strike="noStrike" kern="1200" baseline="0">
                      <a:solidFill>
                        <a:schemeClr val="tx1">
                          <a:lumMod val="75000"/>
                          <a:lumOff val="25000"/>
                        </a:schemeClr>
                      </a:solidFill>
                      <a:latin typeface="+mn-lt"/>
                      <a:ea typeface="+mn-ea"/>
                      <a:cs typeface="+mn-cs"/>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45483333333333326"/>
                      <c:h val="0.2550696267133275"/>
                    </c:manualLayout>
                  </c15:layout>
                  <c15:dlblFieldTable/>
                  <c15:showDataLabelsRange val="0"/>
                </c:ext>
                <c:ext xmlns:c16="http://schemas.microsoft.com/office/drawing/2014/chart" uri="{C3380CC4-5D6E-409C-BE32-E72D297353CC}">
                  <c16:uniqueId val="{00000001-B24E-45FF-9FF2-4540F1FCB941}"/>
                </c:ext>
              </c:extLst>
            </c:dLbl>
            <c:dLbl>
              <c:idx val="1"/>
              <c:layout>
                <c:manualLayout>
                  <c:x val="0.15715135608048994"/>
                  <c:y val="2.8521434820647346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24E-45FF-9FF2-4540F1FCB941}"/>
                </c:ext>
              </c:extLst>
            </c:dLbl>
            <c:dLbl>
              <c:idx val="4"/>
              <c:layout>
                <c:manualLayout>
                  <c:x val="-0.36875109361329833"/>
                  <c:y val="0.19774879702537179"/>
                </c:manualLayout>
              </c:layout>
              <c:spPr>
                <a:noFill/>
                <a:ln>
                  <a:noFill/>
                </a:ln>
                <a:effectLst/>
              </c:spPr>
              <c:txPr>
                <a:bodyPr rot="0" spcFirstLastPara="1" vertOverflow="ellipsis" vert="horz" wrap="square" lIns="38100" tIns="19050" rIns="38100" bIns="19050" anchor="ctr" anchorCtr="0">
                  <a:noAutofit/>
                </a:bodyPr>
                <a:lstStyle/>
                <a:p>
                  <a:pPr algn="l">
                    <a:defRPr sz="2400" b="0" i="0" u="none" strike="noStrike" kern="1200" baseline="0">
                      <a:solidFill>
                        <a:schemeClr val="tx1">
                          <a:lumMod val="75000"/>
                          <a:lumOff val="25000"/>
                        </a:schemeClr>
                      </a:solidFill>
                      <a:latin typeface="+mn-lt"/>
                      <a:ea typeface="+mn-ea"/>
                      <a:cs typeface="+mn-cs"/>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25822222222222224"/>
                      <c:h val="0.34752333041703115"/>
                    </c:manualLayout>
                  </c15:layout>
                </c:ext>
                <c:ext xmlns:c16="http://schemas.microsoft.com/office/drawing/2014/chart" uri="{C3380CC4-5D6E-409C-BE32-E72D297353CC}">
                  <c16:uniqueId val="{00000009-B24E-45FF-9FF2-4540F1FCB941}"/>
                </c:ext>
              </c:extLst>
            </c:dLbl>
            <c:dLbl>
              <c:idx val="5"/>
              <c:layout>
                <c:manualLayout>
                  <c:x val="-0.37638976377952754"/>
                  <c:y val="0.52761009040536599"/>
                </c:manualLayout>
              </c:layout>
              <c:spPr>
                <a:noFill/>
                <a:ln>
                  <a:noFill/>
                </a:ln>
                <a:effectLst/>
              </c:spPr>
              <c:txPr>
                <a:bodyPr rot="0" spcFirstLastPara="1" vertOverflow="ellipsis" vert="horz" wrap="square" lIns="38100" tIns="19050" rIns="38100" bIns="19050" anchor="ctr" anchorCtr="0">
                  <a:spAutoFit/>
                </a:bodyPr>
                <a:lstStyle/>
                <a:p>
                  <a:pPr algn="l">
                    <a:defRPr sz="2400" b="0" i="0" u="none" strike="noStrike" kern="1200" baseline="0">
                      <a:solidFill>
                        <a:schemeClr val="tx1">
                          <a:lumMod val="75000"/>
                          <a:lumOff val="25000"/>
                        </a:schemeClr>
                      </a:solidFill>
                      <a:latin typeface="+mn-lt"/>
                      <a:ea typeface="+mn-ea"/>
                      <a:cs typeface="+mn-cs"/>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2465"/>
                      <c:h val="0.2550696267133275"/>
                    </c:manualLayout>
                  </c15:layout>
                </c:ext>
                <c:ext xmlns:c16="http://schemas.microsoft.com/office/drawing/2014/chart" uri="{C3380CC4-5D6E-409C-BE32-E72D297353CC}">
                  <c16:uniqueId val="{0000000B-B24E-45FF-9FF2-4540F1FCB941}"/>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単純集計表!$C$6:$H$6</c:f>
              <c:strCache>
                <c:ptCount val="6"/>
                <c:pt idx="0">
                  <c:v>～10代</c:v>
                </c:pt>
                <c:pt idx="1">
                  <c:v>20代</c:v>
                </c:pt>
                <c:pt idx="2">
                  <c:v>30代</c:v>
                </c:pt>
                <c:pt idx="3">
                  <c:v>40代</c:v>
                </c:pt>
                <c:pt idx="4">
                  <c:v>50代</c:v>
                </c:pt>
                <c:pt idx="5">
                  <c:v>60代～</c:v>
                </c:pt>
              </c:strCache>
            </c:strRef>
          </c:cat>
          <c:val>
            <c:numRef>
              <c:f>単純集計表!$C$7:$H$7</c:f>
              <c:numCache>
                <c:formatCode>General</c:formatCode>
                <c:ptCount val="6"/>
                <c:pt idx="0">
                  <c:v>0</c:v>
                </c:pt>
                <c:pt idx="1">
                  <c:v>2</c:v>
                </c:pt>
                <c:pt idx="2">
                  <c:v>18</c:v>
                </c:pt>
                <c:pt idx="3">
                  <c:v>10</c:v>
                </c:pt>
                <c:pt idx="4">
                  <c:v>0</c:v>
                </c:pt>
                <c:pt idx="5">
                  <c:v>0</c:v>
                </c:pt>
              </c:numCache>
            </c:numRef>
          </c:val>
          <c:extLst>
            <c:ext xmlns:c16="http://schemas.microsoft.com/office/drawing/2014/chart" uri="{C3380CC4-5D6E-409C-BE32-E72D297353CC}">
              <c16:uniqueId val="{0000000C-B24E-45FF-9FF2-4540F1FCB94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dPt>
            <c:idx val="0"/>
            <c:bubble3D val="0"/>
            <c:spPr>
              <a:solidFill>
                <a:schemeClr val="accent6">
                  <a:shade val="53000"/>
                </a:schemeClr>
              </a:solidFill>
              <a:ln w="19050">
                <a:solidFill>
                  <a:schemeClr val="lt1"/>
                </a:solidFill>
              </a:ln>
              <a:effectLst/>
            </c:spPr>
            <c:extLst>
              <c:ext xmlns:c16="http://schemas.microsoft.com/office/drawing/2014/chart" uri="{C3380CC4-5D6E-409C-BE32-E72D297353CC}">
                <c16:uniqueId val="{00000001-5832-4760-91D8-3971CC9D78F0}"/>
              </c:ext>
            </c:extLst>
          </c:dPt>
          <c:dPt>
            <c:idx val="1"/>
            <c:bubble3D val="0"/>
            <c:spPr>
              <a:solidFill>
                <a:schemeClr val="accent6">
                  <a:shade val="76000"/>
                </a:schemeClr>
              </a:solidFill>
              <a:ln w="19050">
                <a:solidFill>
                  <a:schemeClr val="lt1"/>
                </a:solidFill>
              </a:ln>
              <a:effectLst/>
            </c:spPr>
            <c:extLst>
              <c:ext xmlns:c16="http://schemas.microsoft.com/office/drawing/2014/chart" uri="{C3380CC4-5D6E-409C-BE32-E72D297353CC}">
                <c16:uniqueId val="{00000003-5832-4760-91D8-3971CC9D78F0}"/>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5832-4760-91D8-3971CC9D78F0}"/>
              </c:ext>
            </c:extLst>
          </c:dPt>
          <c:dPt>
            <c:idx val="3"/>
            <c:bubble3D val="0"/>
            <c:spPr>
              <a:solidFill>
                <a:schemeClr val="accent6">
                  <a:tint val="77000"/>
                </a:schemeClr>
              </a:solidFill>
              <a:ln w="19050">
                <a:solidFill>
                  <a:schemeClr val="lt1"/>
                </a:solidFill>
              </a:ln>
              <a:effectLst/>
            </c:spPr>
            <c:extLst>
              <c:ext xmlns:c16="http://schemas.microsoft.com/office/drawing/2014/chart" uri="{C3380CC4-5D6E-409C-BE32-E72D297353CC}">
                <c16:uniqueId val="{00000007-5832-4760-91D8-3971CC9D78F0}"/>
              </c:ext>
            </c:extLst>
          </c:dPt>
          <c:dPt>
            <c:idx val="4"/>
            <c:bubble3D val="0"/>
            <c:spPr>
              <a:solidFill>
                <a:schemeClr val="accent6">
                  <a:tint val="54000"/>
                </a:schemeClr>
              </a:solidFill>
              <a:ln w="19050">
                <a:solidFill>
                  <a:schemeClr val="lt1"/>
                </a:solidFill>
              </a:ln>
              <a:effectLst/>
            </c:spPr>
            <c:extLst>
              <c:ext xmlns:c16="http://schemas.microsoft.com/office/drawing/2014/chart" uri="{C3380CC4-5D6E-409C-BE32-E72D297353CC}">
                <c16:uniqueId val="{00000009-5832-4760-91D8-3971CC9D78F0}"/>
              </c:ext>
            </c:extLst>
          </c:dPt>
          <c:dLbls>
            <c:dLbl>
              <c:idx val="2"/>
              <c:layout>
                <c:manualLayout>
                  <c:x val="5.3686665525505051E-2"/>
                  <c:y val="-0.1693212524515447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832-4760-91D8-3971CC9D78F0}"/>
                </c:ext>
              </c:extLst>
            </c:dLbl>
            <c:dLbl>
              <c:idx val="3"/>
              <c:layout>
                <c:manualLayout>
                  <c:x val="-1.7596713454296475E-2"/>
                  <c:y val="-7.0982764381898166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832-4760-91D8-3971CC9D78F0}"/>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単純集計表!$C$9:$G$9</c:f>
              <c:strCache>
                <c:ptCount val="5"/>
                <c:pt idx="0">
                  <c:v>子どもなし</c:v>
                </c:pt>
                <c:pt idx="1">
                  <c:v>0～2才</c:v>
                </c:pt>
                <c:pt idx="2">
                  <c:v>3～6才</c:v>
                </c:pt>
                <c:pt idx="3">
                  <c:v>小学生</c:v>
                </c:pt>
                <c:pt idx="4">
                  <c:v>中学生～</c:v>
                </c:pt>
              </c:strCache>
            </c:strRef>
          </c:cat>
          <c:val>
            <c:numRef>
              <c:f>単純集計表!$C$10:$G$10</c:f>
              <c:numCache>
                <c:formatCode>General</c:formatCode>
                <c:ptCount val="5"/>
                <c:pt idx="0">
                  <c:v>0</c:v>
                </c:pt>
                <c:pt idx="1">
                  <c:v>1</c:v>
                </c:pt>
                <c:pt idx="2">
                  <c:v>11</c:v>
                </c:pt>
                <c:pt idx="3">
                  <c:v>16</c:v>
                </c:pt>
                <c:pt idx="4">
                  <c:v>2</c:v>
                </c:pt>
              </c:numCache>
            </c:numRef>
          </c:val>
          <c:extLst>
            <c:ext xmlns:c16="http://schemas.microsoft.com/office/drawing/2014/chart" uri="{C3380CC4-5D6E-409C-BE32-E72D297353CC}">
              <c16:uniqueId val="{0000000A-5832-4760-91D8-3971CC9D78F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dPt>
            <c:idx val="0"/>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1-DE74-458C-8535-5AFDA335A528}"/>
              </c:ext>
            </c:extLst>
          </c:dPt>
          <c:dPt>
            <c:idx val="1"/>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3-DE74-458C-8535-5AFDA335A528}"/>
              </c:ext>
            </c:extLst>
          </c:dPt>
          <c:dPt>
            <c:idx val="2"/>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5-DE74-458C-8535-5AFDA335A528}"/>
              </c:ext>
            </c:extLst>
          </c:dPt>
          <c:dPt>
            <c:idx val="3"/>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7-DE74-458C-8535-5AFDA335A528}"/>
              </c:ext>
            </c:extLst>
          </c:dPt>
          <c:dLbls>
            <c:dLbl>
              <c:idx val="1"/>
              <c:layout>
                <c:manualLayout>
                  <c:x val="-1.866051390315341E-2"/>
                  <c:y val="0.1343873999215873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E74-458C-8535-5AFDA335A528}"/>
                </c:ext>
              </c:extLst>
            </c:dLbl>
            <c:dLbl>
              <c:idx val="2"/>
              <c:layout>
                <c:manualLayout>
                  <c:x val="-7.6302493438320212E-2"/>
                  <c:y val="-0.140985140662481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E74-458C-8535-5AFDA335A528}"/>
                </c:ext>
              </c:extLst>
            </c:dLbl>
            <c:dLbl>
              <c:idx val="3"/>
              <c:layout>
                <c:manualLayout>
                  <c:x val="-6.3918606641561113E-2"/>
                  <c:y val="0"/>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E74-458C-8535-5AFDA335A528}"/>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単純集計表!$C$12:$F$12</c:f>
              <c:strCache>
                <c:ptCount val="4"/>
                <c:pt idx="0">
                  <c:v>行っていない</c:v>
                </c:pt>
                <c:pt idx="1">
                  <c:v>1回</c:v>
                </c:pt>
                <c:pt idx="2">
                  <c:v>2～5回</c:v>
                </c:pt>
                <c:pt idx="3">
                  <c:v>6回～</c:v>
                </c:pt>
              </c:strCache>
            </c:strRef>
          </c:cat>
          <c:val>
            <c:numRef>
              <c:f>単純集計表!$C$13:$F$13</c:f>
              <c:numCache>
                <c:formatCode>General</c:formatCode>
                <c:ptCount val="4"/>
                <c:pt idx="0">
                  <c:v>8</c:v>
                </c:pt>
                <c:pt idx="1">
                  <c:v>3</c:v>
                </c:pt>
                <c:pt idx="2">
                  <c:v>14</c:v>
                </c:pt>
                <c:pt idx="3">
                  <c:v>5</c:v>
                </c:pt>
              </c:numCache>
            </c:numRef>
          </c:val>
          <c:extLst>
            <c:ext xmlns:c16="http://schemas.microsoft.com/office/drawing/2014/chart" uri="{C3380CC4-5D6E-409C-BE32-E72D297353CC}">
              <c16:uniqueId val="{00000008-DE74-458C-8535-5AFDA335A528}"/>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pieChart>
        <c:varyColors val="1"/>
        <c:ser>
          <c:idx val="0"/>
          <c:order val="0"/>
          <c:dPt>
            <c:idx val="0"/>
            <c:bubble3D val="0"/>
            <c:spPr>
              <a:solidFill>
                <a:schemeClr val="accent6">
                  <a:shade val="65000"/>
                </a:schemeClr>
              </a:solidFill>
              <a:ln w="19050">
                <a:solidFill>
                  <a:schemeClr val="lt1"/>
                </a:solidFill>
              </a:ln>
              <a:effectLst/>
            </c:spPr>
            <c:extLst>
              <c:ext xmlns:c16="http://schemas.microsoft.com/office/drawing/2014/chart" uri="{C3380CC4-5D6E-409C-BE32-E72D297353CC}">
                <c16:uniqueId val="{00000001-0A19-47F8-85F2-AC2F16121E0F}"/>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0A19-47F8-85F2-AC2F16121E0F}"/>
              </c:ext>
            </c:extLst>
          </c:dPt>
          <c:dPt>
            <c:idx val="2"/>
            <c:bubble3D val="0"/>
            <c:spPr>
              <a:solidFill>
                <a:schemeClr val="accent6">
                  <a:tint val="65000"/>
                </a:schemeClr>
              </a:solidFill>
              <a:ln w="19050">
                <a:solidFill>
                  <a:schemeClr val="lt1"/>
                </a:solidFill>
              </a:ln>
              <a:effectLst/>
            </c:spPr>
            <c:extLst>
              <c:ext xmlns:c16="http://schemas.microsoft.com/office/drawing/2014/chart" uri="{C3380CC4-5D6E-409C-BE32-E72D297353CC}">
                <c16:uniqueId val="{00000005-0A19-47F8-85F2-AC2F16121E0F}"/>
              </c:ext>
            </c:extLst>
          </c:dPt>
          <c:dLbls>
            <c:dLbl>
              <c:idx val="0"/>
              <c:layout>
                <c:manualLayout>
                  <c:x val="5.0325801666096084E-2"/>
                  <c:y val="-1.7672495218712038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A19-47F8-85F2-AC2F16121E0F}"/>
                </c:ext>
              </c:extLst>
            </c:dLbl>
            <c:dLbl>
              <c:idx val="1"/>
              <c:layout>
                <c:manualLayout>
                  <c:x val="-6.8931206968694134E-2"/>
                  <c:y val="0.2057642959475913"/>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9710144927536231"/>
                      <c:h val="0.35899302697239333"/>
                    </c:manualLayout>
                  </c15:layout>
                </c:ext>
                <c:ext xmlns:c16="http://schemas.microsoft.com/office/drawing/2014/chart" uri="{C3380CC4-5D6E-409C-BE32-E72D297353CC}">
                  <c16:uniqueId val="{00000003-0A19-47F8-85F2-AC2F16121E0F}"/>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単純集計表!$C$15:$E$15</c:f>
              <c:strCache>
                <c:ptCount val="3"/>
                <c:pt idx="0">
                  <c:v>ある</c:v>
                </c:pt>
                <c:pt idx="1">
                  <c:v>まだないが欲しい</c:v>
                </c:pt>
                <c:pt idx="2">
                  <c:v>購入予定なし</c:v>
                </c:pt>
              </c:strCache>
            </c:strRef>
          </c:cat>
          <c:val>
            <c:numRef>
              <c:f>単純集計表!$C$16:$E$16</c:f>
              <c:numCache>
                <c:formatCode>General</c:formatCode>
                <c:ptCount val="3"/>
                <c:pt idx="0">
                  <c:v>24</c:v>
                </c:pt>
                <c:pt idx="1">
                  <c:v>4</c:v>
                </c:pt>
                <c:pt idx="2">
                  <c:v>2</c:v>
                </c:pt>
              </c:numCache>
            </c:numRef>
          </c:val>
          <c:extLst>
            <c:ext xmlns:c16="http://schemas.microsoft.com/office/drawing/2014/chart" uri="{C3380CC4-5D6E-409C-BE32-E72D297353CC}">
              <c16:uniqueId val="{00000006-0A19-47F8-85F2-AC2F16121E0F}"/>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28514673437559435"/>
          <c:y val="9.4604923818834577E-2"/>
          <c:w val="0.33550363269808664"/>
          <c:h val="0.81079015236233087"/>
        </c:manualLayout>
      </c:layout>
      <c:pieChart>
        <c:varyColors val="1"/>
        <c:ser>
          <c:idx val="0"/>
          <c:order val="0"/>
          <c:dPt>
            <c:idx val="0"/>
            <c:bubble3D val="0"/>
            <c:spPr>
              <a:solidFill>
                <a:schemeClr val="accent6">
                  <a:shade val="53000"/>
                </a:schemeClr>
              </a:solidFill>
              <a:ln w="19050">
                <a:solidFill>
                  <a:schemeClr val="lt1"/>
                </a:solidFill>
              </a:ln>
              <a:effectLst/>
            </c:spPr>
            <c:extLst>
              <c:ext xmlns:c16="http://schemas.microsoft.com/office/drawing/2014/chart" uri="{C3380CC4-5D6E-409C-BE32-E72D297353CC}">
                <c16:uniqueId val="{00000001-9591-4435-85A6-0E762D69EF11}"/>
              </c:ext>
            </c:extLst>
          </c:dPt>
          <c:dPt>
            <c:idx val="1"/>
            <c:bubble3D val="0"/>
            <c:spPr>
              <a:solidFill>
                <a:schemeClr val="accent6">
                  <a:shade val="76000"/>
                </a:schemeClr>
              </a:solidFill>
              <a:ln w="19050">
                <a:solidFill>
                  <a:schemeClr val="lt1"/>
                </a:solidFill>
              </a:ln>
              <a:effectLst/>
            </c:spPr>
            <c:extLst>
              <c:ext xmlns:c16="http://schemas.microsoft.com/office/drawing/2014/chart" uri="{C3380CC4-5D6E-409C-BE32-E72D297353CC}">
                <c16:uniqueId val="{00000003-9591-4435-85A6-0E762D69EF11}"/>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9591-4435-85A6-0E762D69EF11}"/>
              </c:ext>
            </c:extLst>
          </c:dPt>
          <c:dPt>
            <c:idx val="3"/>
            <c:bubble3D val="0"/>
            <c:spPr>
              <a:solidFill>
                <a:schemeClr val="accent6">
                  <a:tint val="77000"/>
                </a:schemeClr>
              </a:solidFill>
              <a:ln w="19050">
                <a:solidFill>
                  <a:schemeClr val="lt1"/>
                </a:solidFill>
              </a:ln>
              <a:effectLst/>
            </c:spPr>
            <c:extLst>
              <c:ext xmlns:c16="http://schemas.microsoft.com/office/drawing/2014/chart" uri="{C3380CC4-5D6E-409C-BE32-E72D297353CC}">
                <c16:uniqueId val="{00000007-9591-4435-85A6-0E762D69EF11}"/>
              </c:ext>
            </c:extLst>
          </c:dPt>
          <c:dPt>
            <c:idx val="4"/>
            <c:bubble3D val="0"/>
            <c:spPr>
              <a:solidFill>
                <a:schemeClr val="accent6">
                  <a:tint val="54000"/>
                </a:schemeClr>
              </a:solidFill>
              <a:ln w="19050">
                <a:solidFill>
                  <a:schemeClr val="lt1"/>
                </a:solidFill>
              </a:ln>
              <a:effectLst/>
            </c:spPr>
            <c:extLst>
              <c:ext xmlns:c16="http://schemas.microsoft.com/office/drawing/2014/chart" uri="{C3380CC4-5D6E-409C-BE32-E72D297353CC}">
                <c16:uniqueId val="{00000009-9591-4435-85A6-0E762D69EF11}"/>
              </c:ext>
            </c:extLst>
          </c:dPt>
          <c:dLbls>
            <c:dLbl>
              <c:idx val="0"/>
              <c:layout>
                <c:manualLayout>
                  <c:x val="-5.8725417474989543E-2"/>
                  <c:y val="0.3970960196610789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591-4435-85A6-0E762D69EF11}"/>
                </c:ext>
              </c:extLst>
            </c:dLbl>
            <c:dLbl>
              <c:idx val="1"/>
              <c:layout>
                <c:manualLayout>
                  <c:x val="3.9132146525162614E-2"/>
                  <c:y val="0.25042067520381089"/>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591-4435-85A6-0E762D69EF11}"/>
                </c:ext>
              </c:extLst>
            </c:dLbl>
            <c:dLbl>
              <c:idx val="2"/>
              <c:layout>
                <c:manualLayout>
                  <c:x val="0.20927136825288142"/>
                  <c:y val="7.2966062392762867E-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591-4435-85A6-0E762D69EF11}"/>
                </c:ext>
              </c:extLst>
            </c:dLbl>
            <c:dLbl>
              <c:idx val="3"/>
              <c:layout>
                <c:manualLayout>
                  <c:x val="-0.29166666666666674"/>
                  <c:y val="0.30937610454531456"/>
                </c:manualLayout>
              </c:layout>
              <c:spPr>
                <a:noFill/>
                <a:ln>
                  <a:noFill/>
                </a:ln>
                <a:effectLst/>
              </c:spPr>
              <c:txPr>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extLst>
                <c:ext xmlns:c15="http://schemas.microsoft.com/office/drawing/2012/chart" uri="{CE6537A1-D6FC-4f65-9D91-7224C49458BB}">
                  <c15:layout>
                    <c:manualLayout>
                      <c:w val="0.32246376811594202"/>
                      <c:h val="0.30353881955389356"/>
                    </c:manualLayout>
                  </c15:layout>
                </c:ext>
                <c:ext xmlns:c16="http://schemas.microsoft.com/office/drawing/2014/chart" uri="{C3380CC4-5D6E-409C-BE32-E72D297353CC}">
                  <c16:uniqueId val="{00000007-9591-4435-85A6-0E762D69EF11}"/>
                </c:ext>
              </c:extLst>
            </c:dLbl>
            <c:dLbl>
              <c:idx val="4"/>
              <c:layout>
                <c:manualLayout>
                  <c:x val="-0.28381642512077293"/>
                  <c:y val="1.4593212478552574E-2"/>
                </c:manualLayout>
              </c:layout>
              <c:spPr>
                <a:noFill/>
                <a:ln>
                  <a:noFill/>
                </a:ln>
                <a:effectLst/>
              </c:spPr>
              <c:txPr>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extLst>
                <c:ext xmlns:c15="http://schemas.microsoft.com/office/drawing/2012/chart" uri="{CE6537A1-D6FC-4f65-9D91-7224C49458BB}">
                  <c15:layout>
                    <c:manualLayout>
                      <c:w val="0.33695652173913043"/>
                      <c:h val="0.30499814080174881"/>
                    </c:manualLayout>
                  </c15:layout>
                </c:ext>
                <c:ext xmlns:c16="http://schemas.microsoft.com/office/drawing/2014/chart" uri="{C3380CC4-5D6E-409C-BE32-E72D297353CC}">
                  <c16:uniqueId val="{00000009-9591-4435-85A6-0E762D69EF11}"/>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ja-JP"/>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単純集計表!$C$18:$G$18</c:f>
              <c:strCache>
                <c:ptCount val="5"/>
                <c:pt idx="0">
                  <c:v>かなり満足</c:v>
                </c:pt>
                <c:pt idx="1">
                  <c:v>そこそこ満足</c:v>
                </c:pt>
                <c:pt idx="2">
                  <c:v>ふつう</c:v>
                </c:pt>
                <c:pt idx="3">
                  <c:v>あまり満足していない</c:v>
                </c:pt>
                <c:pt idx="4">
                  <c:v>全然満足していない</c:v>
                </c:pt>
              </c:strCache>
            </c:strRef>
          </c:cat>
          <c:val>
            <c:numRef>
              <c:f>単純集計表!$C$19:$G$19</c:f>
              <c:numCache>
                <c:formatCode>General</c:formatCode>
                <c:ptCount val="5"/>
                <c:pt idx="0">
                  <c:v>11</c:v>
                </c:pt>
                <c:pt idx="1">
                  <c:v>11</c:v>
                </c:pt>
                <c:pt idx="2">
                  <c:v>1</c:v>
                </c:pt>
                <c:pt idx="3">
                  <c:v>0</c:v>
                </c:pt>
                <c:pt idx="4">
                  <c:v>0</c:v>
                </c:pt>
              </c:numCache>
            </c:numRef>
          </c:val>
          <c:extLst>
            <c:ext xmlns:c16="http://schemas.microsoft.com/office/drawing/2014/chart" uri="{C3380CC4-5D6E-409C-BE32-E72D297353CC}">
              <c16:uniqueId val="{0000000A-9591-4435-85A6-0E762D69EF11}"/>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 id="19">
  <a:schemeClr val="accent6"/>
</cs:colorStyle>
</file>

<file path=ppt/charts/colors4.xml><?xml version="1.0" encoding="utf-8"?>
<cs:colorStyle xmlns:cs="http://schemas.microsoft.com/office/drawing/2012/chartStyle" xmlns:a="http://schemas.openxmlformats.org/drawingml/2006/main" meth="withinLinear" id="19">
  <a:schemeClr val="accent6"/>
</cs:colorStyle>
</file>

<file path=ppt/charts/colors5.xml><?xml version="1.0" encoding="utf-8"?>
<cs:colorStyle xmlns:cs="http://schemas.microsoft.com/office/drawing/2012/chartStyle" xmlns:a="http://schemas.openxmlformats.org/drawingml/2006/main" meth="withinLinear" id="19">
  <a:schemeClr val="accent6"/>
</cs:colorStyle>
</file>

<file path=ppt/charts/colors6.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B71C1D-4414-FE55-3625-D7028A761B4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D13555D-A72C-6875-B7E8-2C62331E69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B9D304-2AD2-272B-0641-FE30BC77B13E}"/>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703AE986-1EFA-93A6-5D0B-564663B1C5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ED5031-4FAE-0D44-7BBC-2496E864F86E}"/>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341301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089CD-79D2-E91C-3F82-B886F2F8542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C38A05-5DE8-D420-CD84-083970CF308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AE917D-0F99-1947-22EB-A466FF596EAF}"/>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2E1A846F-63DC-D16E-D7EB-9AF73B32FF2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CAF3A3-BDB4-74CA-9FB3-E1E8A3EA28DA}"/>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46595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BBB76A-D7A5-F57A-6A8F-9BFB4FFC7F7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CCD2D3-2F9C-752D-FB8F-0B97E55F30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4B80F77-5E80-7322-CF8C-9B13C57643CD}"/>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5036C57D-D727-8F02-6404-D010AB4A24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1F1711-4DBB-5A3E-B3FB-C1E56F095FC6}"/>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32710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E06A37-1627-6785-A34A-40562DCA493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57DD5B-4D6B-8D9B-5633-D0B55628790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E6220AE-FCAE-2161-6D2E-FB4C4475B7D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4107793-A8F4-A764-FF4E-7AB34F152A50}"/>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6" name="フッター プレースホルダー 5">
            <a:extLst>
              <a:ext uri="{FF2B5EF4-FFF2-40B4-BE49-F238E27FC236}">
                <a16:creationId xmlns:a16="http://schemas.microsoft.com/office/drawing/2014/main" id="{7DF7B8EA-1D68-DFB8-BA31-E434703EC3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C1D96B-4C2D-DE70-A28A-8A0532C321F3}"/>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3984655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495615-A6EA-6A34-313F-DBDBFB73945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97BAED6-1B80-312A-BBC8-9AE5D31A1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051E1BA-2744-C020-F5DD-2383FF01BEE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B077280-DEAF-5ECB-E7A8-B34CB24244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DFC80D9-8428-1D6A-31E9-75A468BD442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4517332-7C36-A8E8-50A2-0907F6726313}"/>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8" name="フッター プレースホルダー 7">
            <a:extLst>
              <a:ext uri="{FF2B5EF4-FFF2-40B4-BE49-F238E27FC236}">
                <a16:creationId xmlns:a16="http://schemas.microsoft.com/office/drawing/2014/main" id="{99B0F112-C5C3-06D1-4AC7-2AB76DDB75B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EEF61BF-D5EE-B3AA-D008-F31111693FE4}"/>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2062253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24368B-DD1F-27BF-EEB5-00499FD333C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13D2DD5-C986-08E7-E071-13405F2538D1}"/>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4" name="フッター プレースホルダー 3">
            <a:extLst>
              <a:ext uri="{FF2B5EF4-FFF2-40B4-BE49-F238E27FC236}">
                <a16:creationId xmlns:a16="http://schemas.microsoft.com/office/drawing/2014/main" id="{DEE93853-E145-AF13-B8EF-5D6C4CFDE6D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3BF7265-2BB4-93CB-E74D-3C483C1954F8}"/>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2852870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D2C208E-6F2F-4811-3AA2-EEDDE62C8BFC}"/>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3" name="フッター プレースホルダー 2">
            <a:extLst>
              <a:ext uri="{FF2B5EF4-FFF2-40B4-BE49-F238E27FC236}">
                <a16:creationId xmlns:a16="http://schemas.microsoft.com/office/drawing/2014/main" id="{7C65AD0A-587F-964B-411D-DB2BA0638F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854BDC8-3BA9-B61F-B2AD-14B4861F0D8F}"/>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891096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0B0A02-4197-D6BF-03BB-3978A30CEA8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77D7E95-EB2E-C590-7B9C-BDAF4D78D2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F953B62-47C9-9DFB-1083-DCE205DF6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19AC68B-D038-63C7-5110-D55B43C22917}"/>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6" name="フッター プレースホルダー 5">
            <a:extLst>
              <a:ext uri="{FF2B5EF4-FFF2-40B4-BE49-F238E27FC236}">
                <a16:creationId xmlns:a16="http://schemas.microsoft.com/office/drawing/2014/main" id="{DC3FECFB-FDE6-8B9F-337A-C45F211DE2D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21F043C-4235-4DC8-9ED5-DC41F0E59A12}"/>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178548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D712CE-F5C8-C096-5A9F-00BE293C27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44F1F4-EAC9-171C-F998-C01119A115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A964A2D-F863-4F37-6408-C5D6456192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2931D4D-477F-D503-FE44-F0CC8DD60193}"/>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6" name="フッター プレースホルダー 5">
            <a:extLst>
              <a:ext uri="{FF2B5EF4-FFF2-40B4-BE49-F238E27FC236}">
                <a16:creationId xmlns:a16="http://schemas.microsoft.com/office/drawing/2014/main" id="{CBC593EB-35FE-FD35-843F-526F0CDF661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88E3877-1F8D-B9EC-C3EE-62D16CA13E60}"/>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67878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1FE4A6-F23F-8C51-4D87-1DC6A320D32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6F83BEB-5D08-D311-816B-BB9CA85DF90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506F74-2DC1-A368-91B1-82A92A5D1BA1}"/>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20D1F87E-EF86-74A0-FEC1-77D6528AD3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EA9C2F-0745-600B-4E78-E15FC7B9283B}"/>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402545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F255418-B249-A2F1-A3FE-81C1EB9AB57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7DEBAE-95F9-F4DC-6C5F-82E793623A9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D85277F-AB73-598F-FD2E-DEF15F571DA4}"/>
              </a:ext>
            </a:extLst>
          </p:cNvPr>
          <p:cNvSpPr>
            <a:spLocks noGrp="1"/>
          </p:cNvSpPr>
          <p:nvPr>
            <p:ph type="dt" sz="half" idx="10"/>
          </p:nvPr>
        </p:nvSpPr>
        <p:spPr/>
        <p:txBody>
          <a:body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31D317F7-15A6-B54F-BD7C-70075CD093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937C71-B78A-A429-81CE-BF95E0E49AAE}"/>
              </a:ext>
            </a:extLst>
          </p:cNvPr>
          <p:cNvSpPr>
            <a:spLocks noGrp="1"/>
          </p:cNvSpPr>
          <p:nvPr>
            <p:ph type="sldNum" sz="quarter" idx="12"/>
          </p:nvPr>
        </p:nvSpPr>
        <p:spPr/>
        <p:txBody>
          <a:body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445386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8748B2A-1484-25BD-8974-CC2CAE6BD7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F86A4E5-20CA-65AC-9C2F-89304390EC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4B5F5E-D190-3E82-BB9C-E18018B3D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7C449-AAFD-4BFC-B9B6-8704FB520EA0}" type="datetimeFigureOut">
              <a:rPr kumimoji="1" lang="ja-JP" altLang="en-US" smtClean="0"/>
              <a:t>2024/11/20</a:t>
            </a:fld>
            <a:endParaRPr kumimoji="1" lang="ja-JP" altLang="en-US"/>
          </a:p>
        </p:txBody>
      </p:sp>
      <p:sp>
        <p:nvSpPr>
          <p:cNvPr id="5" name="フッター プレースホルダー 4">
            <a:extLst>
              <a:ext uri="{FF2B5EF4-FFF2-40B4-BE49-F238E27FC236}">
                <a16:creationId xmlns:a16="http://schemas.microsoft.com/office/drawing/2014/main" id="{0695FB8A-5030-69E3-F20B-C7A1A36FED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668DA99-58DB-75E4-890C-62FF393F76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1098FD-117C-4420-B45D-42209E4F6A47}" type="slidenum">
              <a:rPr kumimoji="1" lang="ja-JP" altLang="en-US" smtClean="0"/>
              <a:t>‹#›</a:t>
            </a:fld>
            <a:endParaRPr kumimoji="1" lang="ja-JP" altLang="en-US"/>
          </a:p>
        </p:txBody>
      </p:sp>
    </p:spTree>
    <p:extLst>
      <p:ext uri="{BB962C8B-B14F-4D97-AF65-F5344CB8AC3E}">
        <p14:creationId xmlns:p14="http://schemas.microsoft.com/office/powerpoint/2010/main" val="1292275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4A43FA-AAC9-0263-B903-74BA52F42114}"/>
              </a:ext>
            </a:extLst>
          </p:cNvPr>
          <p:cNvSpPr>
            <a:spLocks noGrp="1"/>
          </p:cNvSpPr>
          <p:nvPr>
            <p:ph type="ctrTitle"/>
          </p:nvPr>
        </p:nvSpPr>
        <p:spPr/>
        <p:txBody>
          <a:bodyPr anchor="ctr">
            <a:normAutofit fontScale="90000"/>
          </a:bodyPr>
          <a:lstStyle/>
          <a:p>
            <a:pPr>
              <a:lnSpc>
                <a:spcPct val="150000"/>
              </a:lnSpc>
            </a:pPr>
            <a:r>
              <a:rPr kumimoji="1" lang="en-US" altLang="ja-JP" dirty="0"/>
              <a:t>ZOOMO</a:t>
            </a:r>
            <a:r>
              <a:rPr kumimoji="1" lang="ja-JP" altLang="en-US" dirty="0"/>
              <a:t>イベント</a:t>
            </a:r>
            <a:br>
              <a:rPr kumimoji="1" lang="en-US" altLang="ja-JP" dirty="0"/>
            </a:br>
            <a:r>
              <a:rPr kumimoji="1" lang="ja-JP" altLang="en-US" dirty="0"/>
              <a:t>アンケート結果</a:t>
            </a:r>
          </a:p>
        </p:txBody>
      </p:sp>
      <p:sp>
        <p:nvSpPr>
          <p:cNvPr id="3" name="字幕 2">
            <a:extLst>
              <a:ext uri="{FF2B5EF4-FFF2-40B4-BE49-F238E27FC236}">
                <a16:creationId xmlns:a16="http://schemas.microsoft.com/office/drawing/2014/main" id="{F9831D38-C257-2202-02BC-823E132E4DAC}"/>
              </a:ext>
            </a:extLst>
          </p:cNvPr>
          <p:cNvSpPr>
            <a:spLocks noGrp="1"/>
          </p:cNvSpPr>
          <p:nvPr>
            <p:ph type="subTitle" idx="1"/>
          </p:nvPr>
        </p:nvSpPr>
        <p:spPr>
          <a:xfrm>
            <a:off x="3022600" y="4079875"/>
            <a:ext cx="6146800" cy="1655762"/>
          </a:xfrm>
        </p:spPr>
        <p:txBody>
          <a:bodyPr>
            <a:normAutofit/>
          </a:bodyPr>
          <a:lstStyle/>
          <a:p>
            <a:pPr algn="l"/>
            <a:r>
              <a:rPr lang="ja-JP" altLang="en-US" dirty="0"/>
              <a:t>集計期間：</a:t>
            </a:r>
            <a:r>
              <a:rPr lang="en-US" altLang="ja-JP" dirty="0"/>
              <a:t>2024.11.9-10</a:t>
            </a:r>
            <a:r>
              <a:rPr lang="ja-JP" altLang="en-US" dirty="0"/>
              <a:t>　</a:t>
            </a:r>
            <a:r>
              <a:rPr lang="en-US" altLang="ja-JP" dirty="0"/>
              <a:t>10</a:t>
            </a:r>
            <a:r>
              <a:rPr lang="ja-JP" altLang="en-US" dirty="0"/>
              <a:t>：</a:t>
            </a:r>
            <a:r>
              <a:rPr lang="en-US" altLang="ja-JP" dirty="0"/>
              <a:t>00</a:t>
            </a:r>
            <a:r>
              <a:rPr lang="ja-JP" altLang="en-US" dirty="0"/>
              <a:t>～</a:t>
            </a:r>
            <a:r>
              <a:rPr lang="en-US" altLang="ja-JP" dirty="0"/>
              <a:t>15</a:t>
            </a:r>
            <a:r>
              <a:rPr lang="ja-JP" altLang="en-US" dirty="0"/>
              <a:t>：</a:t>
            </a:r>
            <a:r>
              <a:rPr lang="en-US" altLang="ja-JP" dirty="0"/>
              <a:t>30</a:t>
            </a:r>
            <a:r>
              <a:rPr lang="ja-JP" altLang="en-US" dirty="0"/>
              <a:t>　</a:t>
            </a:r>
            <a:endParaRPr lang="en-US" altLang="ja-JP" dirty="0"/>
          </a:p>
          <a:p>
            <a:pPr algn="l"/>
            <a:r>
              <a:rPr kumimoji="1" lang="ja-JP" altLang="en-US" dirty="0"/>
              <a:t>合計数：</a:t>
            </a:r>
            <a:r>
              <a:rPr kumimoji="1" lang="en-US" altLang="ja-JP" dirty="0"/>
              <a:t>30</a:t>
            </a:r>
            <a:r>
              <a:rPr kumimoji="1" lang="ja-JP" altLang="en-US" dirty="0"/>
              <a:t>（無効なし）</a:t>
            </a:r>
            <a:endParaRPr kumimoji="1" lang="en-US" altLang="ja-JP" dirty="0"/>
          </a:p>
          <a:p>
            <a:pPr algn="l"/>
            <a:r>
              <a:rPr lang="ja-JP" altLang="en-US" dirty="0"/>
              <a:t>属性：母親</a:t>
            </a:r>
            <a:endParaRPr kumimoji="1" lang="en-US" altLang="ja-JP" dirty="0"/>
          </a:p>
          <a:p>
            <a:pPr algn="l"/>
            <a:endParaRPr kumimoji="1" lang="ja-JP" altLang="en-US" dirty="0"/>
          </a:p>
        </p:txBody>
      </p:sp>
    </p:spTree>
    <p:extLst>
      <p:ext uri="{BB962C8B-B14F-4D97-AF65-F5344CB8AC3E}">
        <p14:creationId xmlns:p14="http://schemas.microsoft.com/office/powerpoint/2010/main" val="1979031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492F0A-B7A6-640F-7E06-D8C26B863FDB}"/>
              </a:ext>
            </a:extLst>
          </p:cNvPr>
          <p:cNvSpPr>
            <a:spLocks noGrp="1"/>
          </p:cNvSpPr>
          <p:nvPr>
            <p:ph type="title"/>
          </p:nvPr>
        </p:nvSpPr>
        <p:spPr/>
        <p:txBody>
          <a:bodyPr/>
          <a:lstStyle/>
          <a:p>
            <a:r>
              <a:rPr lang="en-US" altLang="ja-JP" dirty="0"/>
              <a:t>1.</a:t>
            </a:r>
            <a:r>
              <a:rPr lang="ja-JP" altLang="en-US" dirty="0"/>
              <a:t>居住地域</a:t>
            </a:r>
            <a:endParaRPr kumimoji="1" lang="ja-JP" altLang="en-US" dirty="0"/>
          </a:p>
        </p:txBody>
      </p:sp>
      <p:graphicFrame>
        <p:nvGraphicFramePr>
          <p:cNvPr id="4" name="コンテンツ プレースホルダー 3">
            <a:extLst>
              <a:ext uri="{FF2B5EF4-FFF2-40B4-BE49-F238E27FC236}">
                <a16:creationId xmlns:a16="http://schemas.microsoft.com/office/drawing/2014/main" id="{BAA00E28-DFBC-A9CB-892B-6BE3F5083018}"/>
              </a:ext>
            </a:extLst>
          </p:cNvPr>
          <p:cNvGraphicFramePr>
            <a:graphicFrameLocks noGrp="1"/>
          </p:cNvGraphicFramePr>
          <p:nvPr>
            <p:ph idx="1"/>
            <p:extLst>
              <p:ext uri="{D42A27DB-BD31-4B8C-83A1-F6EECF244321}">
                <p14:modId xmlns:p14="http://schemas.microsoft.com/office/powerpoint/2010/main" val="2409256108"/>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吹き出し: 左矢印 4">
            <a:extLst>
              <a:ext uri="{FF2B5EF4-FFF2-40B4-BE49-F238E27FC236}">
                <a16:creationId xmlns:a16="http://schemas.microsoft.com/office/drawing/2014/main" id="{4DF56CFC-71A1-049D-34F7-11D367F7CC25}"/>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600" b="1" dirty="0"/>
              <a:t>２</a:t>
            </a:r>
            <a:r>
              <a:rPr kumimoji="1" lang="en-US" altLang="ja-JP" sz="3600" b="1" dirty="0"/>
              <a:t>/</a:t>
            </a:r>
            <a:r>
              <a:rPr kumimoji="1" lang="ja-JP" altLang="en-US" sz="3600" b="1" dirty="0"/>
              <a:t>３が</a:t>
            </a:r>
            <a:endParaRPr kumimoji="1" lang="en-US" altLang="ja-JP" sz="3600" b="1" dirty="0"/>
          </a:p>
          <a:p>
            <a:pPr algn="ctr"/>
            <a:r>
              <a:rPr kumimoji="1" lang="ja-JP" altLang="en-US" sz="3600" b="1" dirty="0"/>
              <a:t>盛岡市内</a:t>
            </a:r>
          </a:p>
        </p:txBody>
      </p:sp>
    </p:spTree>
    <p:extLst>
      <p:ext uri="{BB962C8B-B14F-4D97-AF65-F5344CB8AC3E}">
        <p14:creationId xmlns:p14="http://schemas.microsoft.com/office/powerpoint/2010/main" val="207420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70797-4B09-7B51-DF05-C9DA7A1481FE}"/>
              </a:ext>
            </a:extLst>
          </p:cNvPr>
          <p:cNvSpPr>
            <a:spLocks noGrp="1"/>
          </p:cNvSpPr>
          <p:nvPr>
            <p:ph type="title"/>
          </p:nvPr>
        </p:nvSpPr>
        <p:spPr/>
        <p:txBody>
          <a:bodyPr/>
          <a:lstStyle/>
          <a:p>
            <a:r>
              <a:rPr lang="en-US" altLang="ja-JP" dirty="0"/>
              <a:t>2.</a:t>
            </a:r>
            <a:r>
              <a:rPr lang="ja-JP" altLang="en-US" dirty="0"/>
              <a:t>回答</a:t>
            </a:r>
            <a:r>
              <a:rPr kumimoji="1" lang="ja-JP" altLang="en-US" dirty="0"/>
              <a:t>者の年代</a:t>
            </a:r>
          </a:p>
        </p:txBody>
      </p:sp>
      <p:graphicFrame>
        <p:nvGraphicFramePr>
          <p:cNvPr id="7" name="コンテンツ プレースホルダー 6">
            <a:extLst>
              <a:ext uri="{FF2B5EF4-FFF2-40B4-BE49-F238E27FC236}">
                <a16:creationId xmlns:a16="http://schemas.microsoft.com/office/drawing/2014/main" id="{4A8E3754-16E0-3063-9C80-24D41B29A2B6}"/>
              </a:ext>
            </a:extLst>
          </p:cNvPr>
          <p:cNvGraphicFramePr>
            <a:graphicFrameLocks noGrp="1"/>
          </p:cNvGraphicFramePr>
          <p:nvPr>
            <p:ph idx="1"/>
            <p:extLst>
              <p:ext uri="{D42A27DB-BD31-4B8C-83A1-F6EECF244321}">
                <p14:modId xmlns:p14="http://schemas.microsoft.com/office/powerpoint/2010/main" val="796860044"/>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8" name="吹き出し: 左矢印 7">
            <a:extLst>
              <a:ext uri="{FF2B5EF4-FFF2-40B4-BE49-F238E27FC236}">
                <a16:creationId xmlns:a16="http://schemas.microsoft.com/office/drawing/2014/main" id="{1E8B39F7-35FE-FFE5-5BB4-756C6B0DEA45}"/>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200" b="1" dirty="0"/>
              <a:t>約</a:t>
            </a:r>
            <a:r>
              <a:rPr kumimoji="1" lang="en-US" altLang="ja-JP" sz="3200" b="1" dirty="0"/>
              <a:t>9</a:t>
            </a:r>
            <a:r>
              <a:rPr kumimoji="1" lang="ja-JP" altLang="en-US" sz="3200" b="1" dirty="0"/>
              <a:t>割が</a:t>
            </a:r>
            <a:endParaRPr kumimoji="1" lang="en-US" altLang="ja-JP" sz="3200" b="1" dirty="0"/>
          </a:p>
          <a:p>
            <a:pPr algn="ctr"/>
            <a:r>
              <a:rPr kumimoji="1" lang="en-US" altLang="ja-JP" sz="3200" b="1" dirty="0"/>
              <a:t>30</a:t>
            </a:r>
            <a:r>
              <a:rPr kumimoji="1" lang="ja-JP" altLang="en-US" sz="3200" b="1" dirty="0"/>
              <a:t>～</a:t>
            </a:r>
            <a:r>
              <a:rPr kumimoji="1" lang="en-US" altLang="ja-JP" sz="3200" b="1" dirty="0"/>
              <a:t>40</a:t>
            </a:r>
            <a:r>
              <a:rPr lang="ja-JP" altLang="en-US" sz="3200" b="1" dirty="0"/>
              <a:t>代</a:t>
            </a:r>
            <a:endParaRPr kumimoji="1" lang="ja-JP" altLang="en-US" sz="3200" b="1" dirty="0"/>
          </a:p>
        </p:txBody>
      </p:sp>
    </p:spTree>
    <p:extLst>
      <p:ext uri="{BB962C8B-B14F-4D97-AF65-F5344CB8AC3E}">
        <p14:creationId xmlns:p14="http://schemas.microsoft.com/office/powerpoint/2010/main" val="65789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EC964B-2C6B-0ECB-33ED-3A2198B0B686}"/>
              </a:ext>
            </a:extLst>
          </p:cNvPr>
          <p:cNvSpPr>
            <a:spLocks noGrp="1"/>
          </p:cNvSpPr>
          <p:nvPr>
            <p:ph type="title"/>
          </p:nvPr>
        </p:nvSpPr>
        <p:spPr/>
        <p:txBody>
          <a:bodyPr/>
          <a:lstStyle/>
          <a:p>
            <a:r>
              <a:rPr kumimoji="1" lang="en-US" altLang="ja-JP" dirty="0"/>
              <a:t>3.</a:t>
            </a:r>
            <a:r>
              <a:rPr kumimoji="1" lang="ja-JP" altLang="en-US" dirty="0"/>
              <a:t>第一子の年代</a:t>
            </a:r>
          </a:p>
        </p:txBody>
      </p:sp>
      <p:graphicFrame>
        <p:nvGraphicFramePr>
          <p:cNvPr id="4" name="コンテンツ プレースホルダー 3">
            <a:extLst>
              <a:ext uri="{FF2B5EF4-FFF2-40B4-BE49-F238E27FC236}">
                <a16:creationId xmlns:a16="http://schemas.microsoft.com/office/drawing/2014/main" id="{916D22ED-F635-A193-5896-CCEA7E583751}"/>
              </a:ext>
            </a:extLst>
          </p:cNvPr>
          <p:cNvGraphicFramePr>
            <a:graphicFrameLocks noGrp="1"/>
          </p:cNvGraphicFramePr>
          <p:nvPr>
            <p:ph idx="1"/>
            <p:extLst>
              <p:ext uri="{D42A27DB-BD31-4B8C-83A1-F6EECF244321}">
                <p14:modId xmlns:p14="http://schemas.microsoft.com/office/powerpoint/2010/main" val="233472245"/>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吹き出し: 左矢印 4">
            <a:extLst>
              <a:ext uri="{FF2B5EF4-FFF2-40B4-BE49-F238E27FC236}">
                <a16:creationId xmlns:a16="http://schemas.microsoft.com/office/drawing/2014/main" id="{F56BFDAD-A008-428C-AF2E-262601377954}"/>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600" b="1" dirty="0"/>
              <a:t>約半数が</a:t>
            </a:r>
            <a:endParaRPr kumimoji="1" lang="en-US" altLang="ja-JP" sz="3600" b="1" dirty="0"/>
          </a:p>
          <a:p>
            <a:pPr algn="ctr"/>
            <a:r>
              <a:rPr kumimoji="1" lang="ja-JP" altLang="en-US" sz="3600" b="1" dirty="0"/>
              <a:t>小学生</a:t>
            </a:r>
          </a:p>
        </p:txBody>
      </p:sp>
    </p:spTree>
    <p:extLst>
      <p:ext uri="{BB962C8B-B14F-4D97-AF65-F5344CB8AC3E}">
        <p14:creationId xmlns:p14="http://schemas.microsoft.com/office/powerpoint/2010/main" val="2645622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616AFE-7C36-30B1-8305-943CE8B2ADCF}"/>
              </a:ext>
            </a:extLst>
          </p:cNvPr>
          <p:cNvSpPr>
            <a:spLocks noGrp="1"/>
          </p:cNvSpPr>
          <p:nvPr>
            <p:ph type="title"/>
          </p:nvPr>
        </p:nvSpPr>
        <p:spPr/>
        <p:txBody>
          <a:bodyPr/>
          <a:lstStyle/>
          <a:p>
            <a:r>
              <a:rPr kumimoji="1" lang="en-US" altLang="ja-JP" dirty="0"/>
              <a:t>4.</a:t>
            </a:r>
            <a:r>
              <a:rPr kumimoji="1" lang="ja-JP" altLang="en-US" dirty="0"/>
              <a:t>森林公園等の利用回数</a:t>
            </a:r>
          </a:p>
        </p:txBody>
      </p:sp>
      <p:graphicFrame>
        <p:nvGraphicFramePr>
          <p:cNvPr id="4" name="コンテンツ プレースホルダー 3">
            <a:extLst>
              <a:ext uri="{FF2B5EF4-FFF2-40B4-BE49-F238E27FC236}">
                <a16:creationId xmlns:a16="http://schemas.microsoft.com/office/drawing/2014/main" id="{B5B288AA-D525-4324-4661-0851D012311B}"/>
              </a:ext>
            </a:extLst>
          </p:cNvPr>
          <p:cNvGraphicFramePr>
            <a:graphicFrameLocks noGrp="1"/>
          </p:cNvGraphicFramePr>
          <p:nvPr>
            <p:ph idx="1"/>
            <p:extLst>
              <p:ext uri="{D42A27DB-BD31-4B8C-83A1-F6EECF244321}">
                <p14:modId xmlns:p14="http://schemas.microsoft.com/office/powerpoint/2010/main" val="4172497072"/>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吹き出し: 左矢印 4">
            <a:extLst>
              <a:ext uri="{FF2B5EF4-FFF2-40B4-BE49-F238E27FC236}">
                <a16:creationId xmlns:a16="http://schemas.microsoft.com/office/drawing/2014/main" id="{9186C620-8D2D-0607-F6EB-9B48F432A63B}"/>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600" b="1" dirty="0"/>
              <a:t>過半数が</a:t>
            </a:r>
            <a:endParaRPr kumimoji="1" lang="en-US" altLang="ja-JP" sz="3600" b="1" dirty="0"/>
          </a:p>
          <a:p>
            <a:pPr algn="ctr"/>
            <a:r>
              <a:rPr kumimoji="1" lang="en-US" altLang="ja-JP" sz="3600" b="1" dirty="0"/>
              <a:t>1</a:t>
            </a:r>
            <a:r>
              <a:rPr kumimoji="1" lang="ja-JP" altLang="en-US" sz="3600" b="1" dirty="0"/>
              <a:t>～</a:t>
            </a:r>
            <a:r>
              <a:rPr kumimoji="1" lang="en-US" altLang="ja-JP" sz="3600" b="1" dirty="0"/>
              <a:t>5</a:t>
            </a:r>
            <a:r>
              <a:rPr kumimoji="1" lang="ja-JP" altLang="en-US" sz="3600" b="1" dirty="0"/>
              <a:t>回</a:t>
            </a:r>
          </a:p>
        </p:txBody>
      </p:sp>
    </p:spTree>
    <p:extLst>
      <p:ext uri="{BB962C8B-B14F-4D97-AF65-F5344CB8AC3E}">
        <p14:creationId xmlns:p14="http://schemas.microsoft.com/office/powerpoint/2010/main" val="2453769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172B9D-31FB-61E5-BFB7-6B799DF2EBE6}"/>
              </a:ext>
            </a:extLst>
          </p:cNvPr>
          <p:cNvSpPr>
            <a:spLocks noGrp="1"/>
          </p:cNvSpPr>
          <p:nvPr>
            <p:ph type="title"/>
          </p:nvPr>
        </p:nvSpPr>
        <p:spPr/>
        <p:txBody>
          <a:bodyPr/>
          <a:lstStyle/>
          <a:p>
            <a:r>
              <a:rPr kumimoji="1" lang="en-US" altLang="ja-JP" dirty="0"/>
              <a:t>5.</a:t>
            </a:r>
            <a:r>
              <a:rPr kumimoji="1" lang="ja-JP" altLang="en-US" dirty="0"/>
              <a:t>木製おもちゃの購入状況</a:t>
            </a:r>
          </a:p>
        </p:txBody>
      </p:sp>
      <p:graphicFrame>
        <p:nvGraphicFramePr>
          <p:cNvPr id="4" name="コンテンツ プレースホルダー 3">
            <a:extLst>
              <a:ext uri="{FF2B5EF4-FFF2-40B4-BE49-F238E27FC236}">
                <a16:creationId xmlns:a16="http://schemas.microsoft.com/office/drawing/2014/main" id="{FB07A358-C483-F9F2-F625-B4B96555D9C8}"/>
              </a:ext>
            </a:extLst>
          </p:cNvPr>
          <p:cNvGraphicFramePr>
            <a:graphicFrameLocks noGrp="1"/>
          </p:cNvGraphicFramePr>
          <p:nvPr>
            <p:ph idx="1"/>
            <p:extLst>
              <p:ext uri="{D42A27DB-BD31-4B8C-83A1-F6EECF244321}">
                <p14:modId xmlns:p14="http://schemas.microsoft.com/office/powerpoint/2010/main" val="1564828676"/>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吹き出し: 左矢印 4">
            <a:extLst>
              <a:ext uri="{FF2B5EF4-FFF2-40B4-BE49-F238E27FC236}">
                <a16:creationId xmlns:a16="http://schemas.microsoft.com/office/drawing/2014/main" id="{98C6B0AD-4222-9719-729D-37369B4FC641}"/>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600" b="1" dirty="0"/>
              <a:t>３</a:t>
            </a:r>
            <a:r>
              <a:rPr kumimoji="1" lang="en-US" altLang="ja-JP" sz="3600" b="1" dirty="0"/>
              <a:t>/</a:t>
            </a:r>
            <a:r>
              <a:rPr kumimoji="1" lang="ja-JP" altLang="en-US" sz="3600" b="1" dirty="0"/>
              <a:t>４以上が所持</a:t>
            </a:r>
          </a:p>
        </p:txBody>
      </p:sp>
    </p:spTree>
    <p:extLst>
      <p:ext uri="{BB962C8B-B14F-4D97-AF65-F5344CB8AC3E}">
        <p14:creationId xmlns:p14="http://schemas.microsoft.com/office/powerpoint/2010/main" val="1736144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EA7EC0-C343-0DCB-43C2-612A4A671095}"/>
              </a:ext>
            </a:extLst>
          </p:cNvPr>
          <p:cNvSpPr>
            <a:spLocks noGrp="1"/>
          </p:cNvSpPr>
          <p:nvPr>
            <p:ph type="title"/>
          </p:nvPr>
        </p:nvSpPr>
        <p:spPr/>
        <p:txBody>
          <a:bodyPr/>
          <a:lstStyle/>
          <a:p>
            <a:r>
              <a:rPr kumimoji="1" lang="en-US" altLang="ja-JP" dirty="0"/>
              <a:t>6.</a:t>
            </a:r>
            <a:r>
              <a:rPr kumimoji="1" lang="ja-JP" altLang="en-US" dirty="0"/>
              <a:t>手持ちの木製おもちゃの満足度</a:t>
            </a:r>
          </a:p>
        </p:txBody>
      </p:sp>
      <p:graphicFrame>
        <p:nvGraphicFramePr>
          <p:cNvPr id="4" name="コンテンツ プレースホルダー 3">
            <a:extLst>
              <a:ext uri="{FF2B5EF4-FFF2-40B4-BE49-F238E27FC236}">
                <a16:creationId xmlns:a16="http://schemas.microsoft.com/office/drawing/2014/main" id="{E8E85334-5EE6-8686-D6A8-E70198C5E077}"/>
              </a:ext>
            </a:extLst>
          </p:cNvPr>
          <p:cNvGraphicFramePr>
            <a:graphicFrameLocks noGrp="1"/>
          </p:cNvGraphicFramePr>
          <p:nvPr>
            <p:ph idx="1"/>
            <p:extLst>
              <p:ext uri="{D42A27DB-BD31-4B8C-83A1-F6EECF244321}">
                <p14:modId xmlns:p14="http://schemas.microsoft.com/office/powerpoint/2010/main" val="3996490723"/>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吹き出し: 左矢印 4">
            <a:extLst>
              <a:ext uri="{FF2B5EF4-FFF2-40B4-BE49-F238E27FC236}">
                <a16:creationId xmlns:a16="http://schemas.microsoft.com/office/drawing/2014/main" id="{DBE4FCCA-47BA-3766-7747-56C07FF5989F}"/>
              </a:ext>
            </a:extLst>
          </p:cNvPr>
          <p:cNvSpPr/>
          <p:nvPr/>
        </p:nvSpPr>
        <p:spPr>
          <a:xfrm>
            <a:off x="8153400" y="3429000"/>
            <a:ext cx="3200400" cy="2146300"/>
          </a:xfrm>
          <a:prstGeom prst="leftArrowCallout">
            <a:avLst>
              <a:gd name="adj1" fmla="val 12097"/>
              <a:gd name="adj2" fmla="val 18548"/>
              <a:gd name="adj3" fmla="val 25000"/>
              <a:gd name="adj4" fmla="val 78572"/>
            </a:avLst>
          </a:prstGeom>
          <a:ln w="5715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3600" b="1" dirty="0"/>
              <a:t>約</a:t>
            </a:r>
            <a:r>
              <a:rPr lang="ja-JP" altLang="en-US" sz="3600" b="1" dirty="0"/>
              <a:t>９</a:t>
            </a:r>
            <a:r>
              <a:rPr kumimoji="1" lang="ja-JP" altLang="en-US" sz="3600" b="1" dirty="0"/>
              <a:t>割が</a:t>
            </a:r>
            <a:endParaRPr kumimoji="1" lang="en-US" altLang="ja-JP" sz="3600" b="1" dirty="0"/>
          </a:p>
          <a:p>
            <a:pPr algn="ctr"/>
            <a:r>
              <a:rPr kumimoji="1" lang="ja-JP" altLang="en-US" sz="3600" b="1" dirty="0"/>
              <a:t>満足</a:t>
            </a:r>
            <a:endParaRPr kumimoji="1" lang="ja-JP" altLang="en-US" sz="2400" b="1" dirty="0"/>
          </a:p>
        </p:txBody>
      </p:sp>
    </p:spTree>
    <p:extLst>
      <p:ext uri="{BB962C8B-B14F-4D97-AF65-F5344CB8AC3E}">
        <p14:creationId xmlns:p14="http://schemas.microsoft.com/office/powerpoint/2010/main" val="134658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40BC11-47C1-E372-F0FC-8FB52A31D988}"/>
              </a:ext>
            </a:extLst>
          </p:cNvPr>
          <p:cNvSpPr>
            <a:spLocks noGrp="1"/>
          </p:cNvSpPr>
          <p:nvPr>
            <p:ph type="title"/>
          </p:nvPr>
        </p:nvSpPr>
        <p:spPr/>
        <p:txBody>
          <a:bodyPr/>
          <a:lstStyle/>
          <a:p>
            <a:r>
              <a:rPr kumimoji="1" lang="en-US" altLang="ja-JP" dirty="0"/>
              <a:t>7.</a:t>
            </a:r>
            <a:r>
              <a:rPr kumimoji="1" lang="ja-JP" altLang="en-US" dirty="0"/>
              <a:t>持っているおもちゃへの不満</a:t>
            </a:r>
          </a:p>
        </p:txBody>
      </p:sp>
      <p:graphicFrame>
        <p:nvGraphicFramePr>
          <p:cNvPr id="8" name="コンテンツ プレースホルダー 7">
            <a:extLst>
              <a:ext uri="{FF2B5EF4-FFF2-40B4-BE49-F238E27FC236}">
                <a16:creationId xmlns:a16="http://schemas.microsoft.com/office/drawing/2014/main" id="{8538EF51-EC49-7197-705B-AB663826C6CE}"/>
              </a:ext>
            </a:extLst>
          </p:cNvPr>
          <p:cNvGraphicFramePr>
            <a:graphicFrameLocks noGrp="1"/>
          </p:cNvGraphicFramePr>
          <p:nvPr>
            <p:ph idx="1"/>
            <p:extLst>
              <p:ext uri="{D42A27DB-BD31-4B8C-83A1-F6EECF244321}">
                <p14:modId xmlns:p14="http://schemas.microsoft.com/office/powerpoint/2010/main" val="684039969"/>
              </p:ext>
            </p:extLst>
          </p:nvPr>
        </p:nvGraphicFramePr>
        <p:xfrm>
          <a:off x="838200" y="2083981"/>
          <a:ext cx="10515600" cy="4361700"/>
        </p:xfrm>
        <a:graphic>
          <a:graphicData uri="http://schemas.openxmlformats.org/drawingml/2006/table">
            <a:tbl>
              <a:tblPr>
                <a:tableStyleId>{93296810-A885-4BE3-A3E7-6D5BEEA58F35}</a:tableStyleId>
              </a:tblPr>
              <a:tblGrid>
                <a:gridCol w="2114054">
                  <a:extLst>
                    <a:ext uri="{9D8B030D-6E8A-4147-A177-3AD203B41FA5}">
                      <a16:colId xmlns:a16="http://schemas.microsoft.com/office/drawing/2014/main" val="2589330112"/>
                    </a:ext>
                  </a:extLst>
                </a:gridCol>
                <a:gridCol w="2186954">
                  <a:extLst>
                    <a:ext uri="{9D8B030D-6E8A-4147-A177-3AD203B41FA5}">
                      <a16:colId xmlns:a16="http://schemas.microsoft.com/office/drawing/2014/main" val="3916413740"/>
                    </a:ext>
                  </a:extLst>
                </a:gridCol>
                <a:gridCol w="2186954">
                  <a:extLst>
                    <a:ext uri="{9D8B030D-6E8A-4147-A177-3AD203B41FA5}">
                      <a16:colId xmlns:a16="http://schemas.microsoft.com/office/drawing/2014/main" val="1317813650"/>
                    </a:ext>
                  </a:extLst>
                </a:gridCol>
                <a:gridCol w="2059380">
                  <a:extLst>
                    <a:ext uri="{9D8B030D-6E8A-4147-A177-3AD203B41FA5}">
                      <a16:colId xmlns:a16="http://schemas.microsoft.com/office/drawing/2014/main" val="3838734684"/>
                    </a:ext>
                  </a:extLst>
                </a:gridCol>
                <a:gridCol w="1968258">
                  <a:extLst>
                    <a:ext uri="{9D8B030D-6E8A-4147-A177-3AD203B41FA5}">
                      <a16:colId xmlns:a16="http://schemas.microsoft.com/office/drawing/2014/main" val="130670389"/>
                    </a:ext>
                  </a:extLst>
                </a:gridCol>
              </a:tblGrid>
              <a:tr h="706716">
                <a:tc>
                  <a:txBody>
                    <a:bodyPr/>
                    <a:lstStyle/>
                    <a:p>
                      <a:pPr algn="l" fontAlgn="ctr"/>
                      <a:r>
                        <a:rPr lang="ja-JP" altLang="en-US" sz="2800" b="1" u="none" strike="noStrike" dirty="0">
                          <a:effectLst/>
                        </a:rPr>
                        <a:t>収納・管理</a:t>
                      </a:r>
                      <a:endParaRPr lang="ja-JP" altLang="en-US" sz="2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r>
                        <a:rPr lang="ja-JP" altLang="en-US" sz="2800" b="1" u="none" strike="noStrike">
                          <a:effectLst/>
                        </a:rPr>
                        <a:t>あきる</a:t>
                      </a:r>
                      <a:endParaRPr lang="ja-JP" altLang="en-US" sz="28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r>
                        <a:rPr lang="ja-JP" altLang="en-US" sz="2800" b="1" u="none" strike="noStrike">
                          <a:effectLst/>
                        </a:rPr>
                        <a:t>デザイン</a:t>
                      </a:r>
                      <a:endParaRPr lang="ja-JP" altLang="en-US" sz="28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r>
                        <a:rPr lang="ja-JP" altLang="en-US" sz="2800" b="1" u="none" strike="noStrike">
                          <a:effectLst/>
                        </a:rPr>
                        <a:t>安全性</a:t>
                      </a:r>
                      <a:endParaRPr lang="ja-JP" altLang="en-US" sz="28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r>
                        <a:rPr lang="ja-JP" altLang="en-US" sz="2800" b="1" u="none" strike="noStrike" dirty="0">
                          <a:effectLst/>
                        </a:rPr>
                        <a:t>その他</a:t>
                      </a:r>
                      <a:endParaRPr lang="ja-JP" altLang="en-US" sz="28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1413976503"/>
                  </a:ext>
                </a:extLst>
              </a:tr>
              <a:tr h="601727">
                <a:tc>
                  <a:txBody>
                    <a:bodyPr/>
                    <a:lstStyle/>
                    <a:p>
                      <a:pPr algn="l" fontAlgn="ctr"/>
                      <a:r>
                        <a:rPr lang="ja-JP" altLang="en-US" sz="1400" u="none" strike="noStrike" dirty="0">
                          <a:effectLst/>
                        </a:rPr>
                        <a:t>収納</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転がすだけ、など遊び方が一種類</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色味がハデすぎる</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安いとギザギザで手元が危ない</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今のところ不満はない</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extLst>
                  <a:ext uri="{0D108BD9-81ED-4DB2-BD59-A6C34878D82A}">
                    <a16:rowId xmlns:a16="http://schemas.microsoft.com/office/drawing/2014/main" val="1015051579"/>
                  </a:ext>
                </a:extLst>
              </a:tr>
              <a:tr h="446602">
                <a:tc>
                  <a:txBody>
                    <a:bodyPr/>
                    <a:lstStyle/>
                    <a:p>
                      <a:pPr algn="l" fontAlgn="ctr"/>
                      <a:r>
                        <a:rPr lang="ja-JP" altLang="en-US" sz="1400" u="none" strike="noStrike" dirty="0">
                          <a:effectLst/>
                        </a:rPr>
                        <a:t>収納が大変</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大きくなると遊ばなくなる</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さわり心地が悪い</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こわれること</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あまりありません</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extLst>
                  <a:ext uri="{0D108BD9-81ED-4DB2-BD59-A6C34878D82A}">
                    <a16:rowId xmlns:a16="http://schemas.microsoft.com/office/drawing/2014/main" val="4244223179"/>
                  </a:ext>
                </a:extLst>
              </a:tr>
              <a:tr h="364691">
                <a:tc>
                  <a:txBody>
                    <a:bodyPr/>
                    <a:lstStyle/>
                    <a:p>
                      <a:pPr algn="l" fontAlgn="ctr"/>
                      <a:r>
                        <a:rPr lang="ja-JP" altLang="en-US" sz="1400" u="none" strike="noStrike">
                          <a:effectLst/>
                        </a:rPr>
                        <a:t>かさばる</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あきやすい</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木のつみきが重かった</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割れる</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価格が高い</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extLst>
                  <a:ext uri="{0D108BD9-81ED-4DB2-BD59-A6C34878D82A}">
                    <a16:rowId xmlns:a16="http://schemas.microsoft.com/office/drawing/2014/main" val="3517876862"/>
                  </a:ext>
                </a:extLst>
              </a:tr>
              <a:tr h="386571">
                <a:tc>
                  <a:txBody>
                    <a:bodyPr/>
                    <a:lstStyle/>
                    <a:p>
                      <a:pPr algn="l" fontAlgn="ctr"/>
                      <a:r>
                        <a:rPr lang="ja-JP" altLang="en-US" sz="1400" u="none" strike="noStrike" dirty="0">
                          <a:effectLst/>
                        </a:rPr>
                        <a:t>スペースをとること</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すぐあきる</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重い</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床が傷つくこと</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extLst>
                  <a:ext uri="{0D108BD9-81ED-4DB2-BD59-A6C34878D82A}">
                    <a16:rowId xmlns:a16="http://schemas.microsoft.com/office/drawing/2014/main" val="2779442964"/>
                  </a:ext>
                </a:extLst>
              </a:tr>
              <a:tr h="649506">
                <a:tc>
                  <a:txBody>
                    <a:bodyPr/>
                    <a:lstStyle/>
                    <a:p>
                      <a:pPr algn="l" fontAlgn="ctr"/>
                      <a:r>
                        <a:rPr lang="ja-JP" altLang="en-US" sz="1400" u="none" strike="noStrike" dirty="0">
                          <a:effectLst/>
                        </a:rPr>
                        <a:t>ちらかる</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遊びの時期が過ぎてしまうと、もう遊ぶことはないこと</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u="none" strike="noStrike" dirty="0">
                          <a:effectLst/>
                        </a:rPr>
                        <a:t>木製は少し重いので、赤ちゃんのときは難しかったです</a:t>
                      </a:r>
                      <a:endParaRPr lang="ja-JP" altLang="en-US" sz="1400" b="0" u="none" strike="noStrike" dirty="0">
                        <a:solidFill>
                          <a:srgbClr val="000000"/>
                        </a:solidFill>
                        <a:effectLst/>
                      </a:endParaRPr>
                    </a:p>
                    <a:p>
                      <a:pPr algn="l"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3475567191"/>
                  </a:ext>
                </a:extLst>
              </a:tr>
              <a:tr h="255647">
                <a:tc>
                  <a:txBody>
                    <a:bodyPr/>
                    <a:lstStyle/>
                    <a:p>
                      <a:pPr algn="l" fontAlgn="ctr"/>
                      <a:r>
                        <a:rPr lang="ja-JP" altLang="en-US" sz="1400" u="none" strike="noStrike">
                          <a:effectLst/>
                        </a:rPr>
                        <a:t>こわれた後のしまつ</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すぐ飽きてしまう</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a:effectLst/>
                        </a:rPr>
                        <a:t>電池が必要なこと</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4164558030"/>
                  </a:ext>
                </a:extLst>
              </a:tr>
              <a:tr h="484309">
                <a:tc>
                  <a:txBody>
                    <a:bodyPr/>
                    <a:lstStyle/>
                    <a:p>
                      <a:pPr algn="l" fontAlgn="ctr"/>
                      <a:r>
                        <a:rPr lang="ja-JP" altLang="en-US" sz="1400" u="none" strike="noStrike">
                          <a:effectLst/>
                        </a:rPr>
                        <a:t>使わなくなったおもちゃの処分に困る</a:t>
                      </a: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a:txBody>
                    <a:bodyPr/>
                    <a:lstStyle/>
                    <a:p>
                      <a:pPr algn="l" fontAlgn="ctr"/>
                      <a:r>
                        <a:rPr lang="ja-JP" altLang="en-US" sz="1400" u="none" strike="noStrike" dirty="0">
                          <a:effectLst/>
                        </a:rPr>
                        <a:t>あきてしまう</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gridSpan="3">
                  <a:txBody>
                    <a:bodyPr/>
                    <a:lstStyle/>
                    <a:p>
                      <a:pPr algn="l" fontAlgn="ctr"/>
                      <a:r>
                        <a:rPr lang="ja-JP" altLang="en-US" sz="1400" u="none" strike="noStrike" dirty="0">
                          <a:effectLst/>
                        </a:rPr>
                        <a:t>１パーツなくなってしまったとき</a:t>
                      </a:r>
                      <a:r>
                        <a:rPr lang="en-US" altLang="ja-JP" sz="1400" u="none" strike="noStrike" dirty="0">
                          <a:effectLst/>
                        </a:rPr>
                        <a:t>(</a:t>
                      </a:r>
                      <a:r>
                        <a:rPr lang="ja-JP" altLang="en-US" sz="1400" u="none" strike="noStrike" dirty="0">
                          <a:effectLst/>
                        </a:rPr>
                        <a:t>１パーツのみ売っていない</a:t>
                      </a:r>
                      <a:r>
                        <a:rPr lang="en-US" altLang="ja-JP" sz="1400" u="none" strike="noStrike" dirty="0">
                          <a:effectLst/>
                        </a:rPr>
                        <a:t>)</a:t>
                      </a:r>
                      <a:endPar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863750177"/>
                  </a:ext>
                </a:extLst>
              </a:tr>
              <a:tr h="255647">
                <a:tc gridSpan="3">
                  <a:txBody>
                    <a:bodyPr/>
                    <a:lstStyle/>
                    <a:p>
                      <a:pPr algn="l" fontAlgn="ctr"/>
                      <a:r>
                        <a:rPr lang="ja-JP" altLang="en-US" sz="1400" u="none" strike="noStrike" dirty="0">
                          <a:effectLst/>
                        </a:rPr>
                        <a:t>子どもの年齢が上がり、もう遊ばなくなった際の処分に悩みます</a:t>
                      </a:r>
                      <a:endPar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tc>
                <a:tc hMerge="1">
                  <a:txBody>
                    <a:bodyPr/>
                    <a:lstStyle/>
                    <a:p>
                      <a:endParaRPr kumimoji="1" lang="ja-JP" altLang="en-US"/>
                    </a:p>
                  </a:txBody>
                  <a:tcP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l" fontAlgn="ct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152286672"/>
                  </a:ext>
                </a:extLst>
              </a:tr>
            </a:tbl>
          </a:graphicData>
        </a:graphic>
      </p:graphicFrame>
    </p:spTree>
    <p:extLst>
      <p:ext uri="{BB962C8B-B14F-4D97-AF65-F5344CB8AC3E}">
        <p14:creationId xmlns:p14="http://schemas.microsoft.com/office/powerpoint/2010/main" val="2407148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B776FA-55E9-875A-C2A4-4B585108CFA1}"/>
              </a:ext>
            </a:extLst>
          </p:cNvPr>
          <p:cNvSpPr>
            <a:spLocks noGrp="1"/>
          </p:cNvSpPr>
          <p:nvPr>
            <p:ph type="title"/>
          </p:nvPr>
        </p:nvSpPr>
        <p:spPr/>
        <p:txBody>
          <a:bodyPr/>
          <a:lstStyle/>
          <a:p>
            <a:r>
              <a:rPr kumimoji="1" lang="en-US" altLang="ja-JP" dirty="0"/>
              <a:t>8.</a:t>
            </a:r>
            <a:r>
              <a:rPr kumimoji="1" lang="ja-JP" altLang="en-US" dirty="0"/>
              <a:t>「買ってよかった」と思うとき</a:t>
            </a:r>
          </a:p>
        </p:txBody>
      </p:sp>
      <p:graphicFrame>
        <p:nvGraphicFramePr>
          <p:cNvPr id="4" name="コンテンツ プレースホルダー 3">
            <a:extLst>
              <a:ext uri="{FF2B5EF4-FFF2-40B4-BE49-F238E27FC236}">
                <a16:creationId xmlns:a16="http://schemas.microsoft.com/office/drawing/2014/main" id="{414B4081-29D7-A2A4-9CBB-C164C067C248}"/>
              </a:ext>
            </a:extLst>
          </p:cNvPr>
          <p:cNvGraphicFramePr>
            <a:graphicFrameLocks noGrp="1"/>
          </p:cNvGraphicFramePr>
          <p:nvPr>
            <p:ph idx="1"/>
            <p:extLst>
              <p:ext uri="{D42A27DB-BD31-4B8C-83A1-F6EECF244321}">
                <p14:modId xmlns:p14="http://schemas.microsoft.com/office/powerpoint/2010/main" val="3913681703"/>
              </p:ext>
            </p:extLst>
          </p:nvPr>
        </p:nvGraphicFramePr>
        <p:xfrm>
          <a:off x="838201" y="1825625"/>
          <a:ext cx="10515597" cy="4508630"/>
        </p:xfrm>
        <a:graphic>
          <a:graphicData uri="http://schemas.openxmlformats.org/drawingml/2006/table">
            <a:tbl>
              <a:tblPr>
                <a:tableStyleId>{93296810-A885-4BE3-A3E7-6D5BEEA58F35}</a:tableStyleId>
              </a:tblPr>
              <a:tblGrid>
                <a:gridCol w="2114054">
                  <a:extLst>
                    <a:ext uri="{9D8B030D-6E8A-4147-A177-3AD203B41FA5}">
                      <a16:colId xmlns:a16="http://schemas.microsoft.com/office/drawing/2014/main" val="2489404397"/>
                    </a:ext>
                  </a:extLst>
                </a:gridCol>
                <a:gridCol w="2186952">
                  <a:extLst>
                    <a:ext uri="{9D8B030D-6E8A-4147-A177-3AD203B41FA5}">
                      <a16:colId xmlns:a16="http://schemas.microsoft.com/office/drawing/2014/main" val="3963306689"/>
                    </a:ext>
                  </a:extLst>
                </a:gridCol>
                <a:gridCol w="2186952">
                  <a:extLst>
                    <a:ext uri="{9D8B030D-6E8A-4147-A177-3AD203B41FA5}">
                      <a16:colId xmlns:a16="http://schemas.microsoft.com/office/drawing/2014/main" val="506169514"/>
                    </a:ext>
                  </a:extLst>
                </a:gridCol>
                <a:gridCol w="2059381">
                  <a:extLst>
                    <a:ext uri="{9D8B030D-6E8A-4147-A177-3AD203B41FA5}">
                      <a16:colId xmlns:a16="http://schemas.microsoft.com/office/drawing/2014/main" val="712027451"/>
                    </a:ext>
                  </a:extLst>
                </a:gridCol>
                <a:gridCol w="1968258">
                  <a:extLst>
                    <a:ext uri="{9D8B030D-6E8A-4147-A177-3AD203B41FA5}">
                      <a16:colId xmlns:a16="http://schemas.microsoft.com/office/drawing/2014/main" val="371127440"/>
                    </a:ext>
                  </a:extLst>
                </a:gridCol>
              </a:tblGrid>
              <a:tr h="489204">
                <a:tc>
                  <a:txBody>
                    <a:bodyPr/>
                    <a:lstStyle/>
                    <a:p>
                      <a:pPr algn="l" fontAlgn="ctr"/>
                      <a:r>
                        <a:rPr lang="ja-JP" altLang="en-US" sz="2400" b="1" u="none" strike="noStrike" dirty="0">
                          <a:effectLst/>
                        </a:rPr>
                        <a:t>長く使える</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2400" b="1" u="none" strike="noStrike" dirty="0">
                          <a:effectLst/>
                        </a:rPr>
                        <a:t>楽しい</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2400" b="1" u="none" strike="noStrike" dirty="0">
                          <a:effectLst/>
                        </a:rPr>
                        <a:t>交流になる</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2400" b="1" u="none" strike="noStrike" dirty="0">
                          <a:effectLst/>
                        </a:rPr>
                        <a:t>成長を感じる</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2400" b="1" u="none" strike="noStrike" dirty="0">
                          <a:effectLst/>
                        </a:rPr>
                        <a:t>その他</a:t>
                      </a:r>
                      <a:endParaRPr lang="ja-JP" altLang="en-US" sz="2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2360907906"/>
                  </a:ext>
                </a:extLst>
              </a:tr>
              <a:tr h="308971">
                <a:tc>
                  <a:txBody>
                    <a:bodyPr/>
                    <a:lstStyle/>
                    <a:p>
                      <a:pPr algn="l" fontAlgn="ctr"/>
                      <a:r>
                        <a:rPr lang="ja-JP" altLang="en-US" sz="1100" u="none" strike="noStrike">
                          <a:effectLst/>
                        </a:rPr>
                        <a:t>長く遊んでくれた時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子どもが楽しそうに遊んでいるとき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一緒に遊べたとき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できることが増えたとき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肌触り、質感、あたたかみがあっていい</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3015642165"/>
                  </a:ext>
                </a:extLst>
              </a:tr>
              <a:tr h="463456">
                <a:tc>
                  <a:txBody>
                    <a:bodyPr/>
                    <a:lstStyle/>
                    <a:p>
                      <a:pPr algn="l" fontAlgn="ctr"/>
                      <a:r>
                        <a:rPr lang="ja-JP" altLang="en-US" sz="1100" u="none" strike="noStrike" dirty="0">
                          <a:effectLst/>
                        </a:rPr>
                        <a:t>子供がずっと長く大切に遊んでくれるとうれしいです</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子どもがおもちゃを使って楽しそうにしているとき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家族であそべる時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子どものできた！や新たな発見をしたとき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おもちゃ同士のぶつかった時の音がやさしい</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3470136762"/>
                  </a:ext>
                </a:extLst>
              </a:tr>
              <a:tr h="308971">
                <a:tc>
                  <a:txBody>
                    <a:bodyPr/>
                    <a:lstStyle/>
                    <a:p>
                      <a:pPr algn="l" fontAlgn="ctr"/>
                      <a:r>
                        <a:rPr lang="ja-JP" altLang="en-US" sz="1100" u="none" strike="noStrike" dirty="0">
                          <a:effectLst/>
                        </a:rPr>
                        <a:t>長く遊んでくれるのでよかったです</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子供がはしゃいで遊んでいる姿を見たとき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子供から一緒にあそぼうといわれたとき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集中力が養われていると感じる時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dirty="0">
                          <a:effectLst/>
                        </a:rPr>
                        <a:t>頭を使うおもちゃ</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1489512745"/>
                  </a:ext>
                </a:extLst>
              </a:tr>
              <a:tr h="617941">
                <a:tc>
                  <a:txBody>
                    <a:bodyPr/>
                    <a:lstStyle/>
                    <a:p>
                      <a:pPr algn="l" fontAlgn="ctr"/>
                      <a:r>
                        <a:rPr lang="ja-JP" altLang="en-US" sz="1100" u="none" strike="noStrike">
                          <a:effectLst/>
                        </a:rPr>
                        <a:t>子どもがずっとあそんでいる時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子どもが楽しそうに遊んでいたとき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お友達といっしょに楽しんでくれているとき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子が自分自身であそび方を工夫したり、違うつかい方を見つけたとき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4283779016"/>
                  </a:ext>
                </a:extLst>
              </a:tr>
              <a:tr h="308971">
                <a:tc>
                  <a:txBody>
                    <a:bodyPr/>
                    <a:lstStyle/>
                    <a:p>
                      <a:pPr algn="l" fontAlgn="ctr"/>
                      <a:r>
                        <a:rPr lang="ja-JP" altLang="en-US" sz="1100" u="none" strike="noStrike">
                          <a:effectLst/>
                        </a:rPr>
                        <a:t>子どもが長く遊んでいるとき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子どもが喜んでいるとき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子供と一緒に遊んでるとき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2295755917"/>
                  </a:ext>
                </a:extLst>
              </a:tr>
              <a:tr h="308971">
                <a:tc>
                  <a:txBody>
                    <a:bodyPr/>
                    <a:lstStyle/>
                    <a:p>
                      <a:pPr algn="l" fontAlgn="ctr"/>
                      <a:r>
                        <a:rPr lang="ja-JP" altLang="en-US" sz="1100" u="none" strike="noStrike">
                          <a:effectLst/>
                        </a:rPr>
                        <a:t>こどもがたくさんあそんでくれている時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楽しそうに遊んでいる様子を見た時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なかよく遊んでいるのを見た時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1425874814"/>
                  </a:ext>
                </a:extLst>
              </a:tr>
              <a:tr h="308971">
                <a:tc>
                  <a:txBody>
                    <a:bodyPr/>
                    <a:lstStyle/>
                    <a:p>
                      <a:pPr algn="l" fontAlgn="ctr"/>
                      <a:r>
                        <a:rPr lang="ja-JP" altLang="en-US" sz="1100" u="none" strike="noStrike">
                          <a:effectLst/>
                        </a:rPr>
                        <a:t>子どもが長く楽しく遊んでくれているとき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熱中している時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1266047693"/>
                  </a:ext>
                </a:extLst>
              </a:tr>
              <a:tr h="154485">
                <a:tc>
                  <a:txBody>
                    <a:bodyPr/>
                    <a:lstStyle/>
                    <a:p>
                      <a:pPr algn="l" fontAlgn="ctr"/>
                      <a:r>
                        <a:rPr lang="ja-JP" altLang="en-US" sz="1100" u="none" strike="noStrike">
                          <a:effectLst/>
                        </a:rPr>
                        <a:t>長く遊べているとき</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むちゅうで遊んでる時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3114465561"/>
                  </a:ext>
                </a:extLst>
              </a:tr>
              <a:tr h="463456">
                <a:tc>
                  <a:txBody>
                    <a:bodyPr/>
                    <a:lstStyle/>
                    <a:p>
                      <a:pPr algn="l" fontAlgn="ctr"/>
                      <a:r>
                        <a:rPr lang="ja-JP" altLang="en-US" sz="1100" u="none" strike="noStrike">
                          <a:effectLst/>
                        </a:rPr>
                        <a:t>子どもが気に入り、工夫しながら長く遊べている時</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r>
                        <a:rPr lang="ja-JP" altLang="en-US" sz="1100" u="none" strike="noStrike">
                          <a:effectLst/>
                        </a:rPr>
                        <a:t>我が子の笑顔</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1904468456"/>
                  </a:ext>
                </a:extLst>
              </a:tr>
              <a:tr h="463456">
                <a:tc>
                  <a:txBody>
                    <a:bodyPr/>
                    <a:lstStyle/>
                    <a:p>
                      <a:pPr algn="l" fontAlgn="ctr"/>
                      <a:r>
                        <a:rPr lang="ja-JP" altLang="en-US" sz="1100" u="none" strike="noStrike" dirty="0">
                          <a:effectLst/>
                        </a:rPr>
                        <a:t>ずっと取っておいて、孫ができたら遊んでほしい</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509216603"/>
                  </a:ext>
                </a:extLst>
              </a:tr>
              <a:tr h="154485">
                <a:tc>
                  <a:txBody>
                    <a:bodyPr/>
                    <a:lstStyle/>
                    <a:p>
                      <a:pPr algn="l" fontAlgn="ctr"/>
                      <a:r>
                        <a:rPr lang="ja-JP" altLang="en-US" sz="1100" u="none" strike="noStrike" dirty="0">
                          <a:effectLst/>
                        </a:rPr>
                        <a:t>何年も使い続けてる時</a:t>
                      </a:r>
                      <a:endPar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7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7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700" b="0" i="0" u="none" strike="noStrike">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tc>
                  <a:txBody>
                    <a:bodyPr/>
                    <a:lstStyle/>
                    <a:p>
                      <a:pPr algn="l" fontAlgn="ctr"/>
                      <a:endParaRPr lang="ja-JP" altLang="en-US" sz="7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4291" marR="4291" marT="4291" marB="0"/>
                </a:tc>
                <a:extLst>
                  <a:ext uri="{0D108BD9-81ED-4DB2-BD59-A6C34878D82A}">
                    <a16:rowId xmlns:a16="http://schemas.microsoft.com/office/drawing/2014/main" val="2230970060"/>
                  </a:ext>
                </a:extLst>
              </a:tr>
            </a:tbl>
          </a:graphicData>
        </a:graphic>
      </p:graphicFrame>
    </p:spTree>
    <p:extLst>
      <p:ext uri="{BB962C8B-B14F-4D97-AF65-F5344CB8AC3E}">
        <p14:creationId xmlns:p14="http://schemas.microsoft.com/office/powerpoint/2010/main" val="99389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7F5E2-7C12-238A-93D1-72D08E4BDBD1}"/>
              </a:ext>
            </a:extLst>
          </p:cNvPr>
          <p:cNvSpPr>
            <a:spLocks noGrp="1"/>
          </p:cNvSpPr>
          <p:nvPr>
            <p:ph type="title"/>
          </p:nvPr>
        </p:nvSpPr>
        <p:spPr/>
        <p:txBody>
          <a:bodyPr/>
          <a:lstStyle/>
          <a:p>
            <a:r>
              <a:rPr lang="ja-JP" altLang="en-US" dirty="0"/>
              <a:t>まとめ</a:t>
            </a:r>
            <a:endParaRPr kumimoji="1" lang="ja-JP" altLang="en-US" dirty="0"/>
          </a:p>
        </p:txBody>
      </p:sp>
      <p:sp>
        <p:nvSpPr>
          <p:cNvPr id="3" name="コンテンツ プレースホルダー 2">
            <a:extLst>
              <a:ext uri="{FF2B5EF4-FFF2-40B4-BE49-F238E27FC236}">
                <a16:creationId xmlns:a16="http://schemas.microsoft.com/office/drawing/2014/main" id="{EFF55D0C-1844-C481-F384-AE360ABB9930}"/>
              </a:ext>
            </a:extLst>
          </p:cNvPr>
          <p:cNvSpPr>
            <a:spLocks noGrp="1"/>
          </p:cNvSpPr>
          <p:nvPr>
            <p:ph idx="1"/>
          </p:nvPr>
        </p:nvSpPr>
        <p:spPr/>
        <p:txBody>
          <a:bodyPr/>
          <a:lstStyle/>
          <a:p>
            <a:r>
              <a:rPr lang="ja-JP" altLang="en-US" dirty="0"/>
              <a:t>居住地域：</a:t>
            </a:r>
            <a:r>
              <a:rPr lang="ja-JP" altLang="en-US" b="1" dirty="0"/>
              <a:t>２</a:t>
            </a:r>
            <a:r>
              <a:rPr lang="en-US" altLang="ja-JP" b="1" dirty="0"/>
              <a:t>/</a:t>
            </a:r>
            <a:r>
              <a:rPr lang="ja-JP" altLang="en-US" b="1" dirty="0"/>
              <a:t>３が盛岡市内</a:t>
            </a:r>
            <a:endParaRPr lang="en-US" altLang="ja-JP" b="1" dirty="0"/>
          </a:p>
          <a:p>
            <a:r>
              <a:rPr kumimoji="1" lang="ja-JP" altLang="en-US" dirty="0"/>
              <a:t>母親の年代：</a:t>
            </a:r>
            <a:r>
              <a:rPr kumimoji="1" lang="ja-JP" altLang="en-US" b="1" dirty="0"/>
              <a:t>約９割が３０～４０代</a:t>
            </a:r>
            <a:endParaRPr kumimoji="1" lang="en-US" altLang="ja-JP" b="1" dirty="0"/>
          </a:p>
          <a:p>
            <a:r>
              <a:rPr lang="ja-JP" altLang="en-US" dirty="0"/>
              <a:t>第一子の年代：</a:t>
            </a:r>
            <a:r>
              <a:rPr lang="ja-JP" altLang="en-US" b="1" dirty="0"/>
              <a:t>最多の約半数が小学生</a:t>
            </a:r>
            <a:r>
              <a:rPr lang="ja-JP" altLang="en-US" dirty="0"/>
              <a:t>、ついで１</a:t>
            </a:r>
            <a:r>
              <a:rPr lang="en-US" altLang="ja-JP" dirty="0"/>
              <a:t>/</a:t>
            </a:r>
            <a:r>
              <a:rPr lang="ja-JP" altLang="en-US" dirty="0"/>
              <a:t>３が３</a:t>
            </a:r>
            <a:r>
              <a:rPr lang="en-US" altLang="ja-JP" dirty="0"/>
              <a:t>~</a:t>
            </a:r>
            <a:r>
              <a:rPr lang="ja-JP" altLang="en-US" dirty="0"/>
              <a:t>６才</a:t>
            </a:r>
            <a:endParaRPr lang="en-US" altLang="ja-JP" dirty="0"/>
          </a:p>
          <a:p>
            <a:r>
              <a:rPr kumimoji="1" lang="ja-JP" altLang="en-US" dirty="0"/>
              <a:t>森林公園利用：</a:t>
            </a:r>
            <a:r>
              <a:rPr kumimoji="1" lang="ja-JP" altLang="en-US" b="1" dirty="0"/>
              <a:t>過半数が</a:t>
            </a:r>
            <a:r>
              <a:rPr kumimoji="1" lang="en-US" altLang="ja-JP" b="1" dirty="0"/>
              <a:t>1</a:t>
            </a:r>
            <a:r>
              <a:rPr kumimoji="1" lang="ja-JP" altLang="en-US" b="1" dirty="0"/>
              <a:t>～</a:t>
            </a:r>
            <a:r>
              <a:rPr kumimoji="1" lang="en-US" altLang="ja-JP" b="1" dirty="0"/>
              <a:t>5</a:t>
            </a:r>
            <a:r>
              <a:rPr kumimoji="1" lang="ja-JP" altLang="en-US" b="1" dirty="0"/>
              <a:t>回</a:t>
            </a:r>
            <a:r>
              <a:rPr kumimoji="1" lang="ja-JP" altLang="en-US" dirty="0"/>
              <a:t>、</a:t>
            </a:r>
            <a:r>
              <a:rPr lang="ja-JP" altLang="en-US" dirty="0"/>
              <a:t> １</a:t>
            </a:r>
            <a:r>
              <a:rPr lang="en-US" altLang="ja-JP" dirty="0"/>
              <a:t>/</a:t>
            </a:r>
            <a:r>
              <a:rPr lang="ja-JP" altLang="en-US" dirty="0"/>
              <a:t>４が</a:t>
            </a:r>
            <a:r>
              <a:rPr kumimoji="1" lang="ja-JP" altLang="en-US" dirty="0"/>
              <a:t>未利用</a:t>
            </a:r>
            <a:endParaRPr lang="en-US" altLang="ja-JP" dirty="0"/>
          </a:p>
          <a:p>
            <a:r>
              <a:rPr lang="ja-JP" altLang="en-US" dirty="0"/>
              <a:t>木製おもちゃ：</a:t>
            </a:r>
            <a:r>
              <a:rPr lang="ja-JP" altLang="en-US" b="1" dirty="0"/>
              <a:t>３</a:t>
            </a:r>
            <a:r>
              <a:rPr lang="en-US" altLang="ja-JP" b="1" dirty="0"/>
              <a:t>/</a:t>
            </a:r>
            <a:r>
              <a:rPr lang="ja-JP" altLang="en-US" b="1" dirty="0"/>
              <a:t>４以上が所持</a:t>
            </a:r>
            <a:endParaRPr lang="en-US" altLang="ja-JP" b="1" dirty="0"/>
          </a:p>
          <a:p>
            <a:r>
              <a:rPr kumimoji="1" lang="ja-JP" altLang="en-US" dirty="0"/>
              <a:t>手持ちの木製おもちゃ：</a:t>
            </a:r>
            <a:r>
              <a:rPr kumimoji="1" lang="ja-JP" altLang="en-US" b="1" dirty="0"/>
              <a:t>約</a:t>
            </a:r>
            <a:r>
              <a:rPr lang="ja-JP" altLang="en-US" b="1" dirty="0"/>
              <a:t>９</a:t>
            </a:r>
            <a:r>
              <a:rPr kumimoji="1" lang="ja-JP" altLang="en-US" b="1" dirty="0"/>
              <a:t>割が満足</a:t>
            </a:r>
            <a:endParaRPr kumimoji="1" lang="en-US" altLang="ja-JP" b="1" dirty="0"/>
          </a:p>
          <a:p>
            <a:r>
              <a:rPr lang="ja-JP" altLang="en-US" dirty="0"/>
              <a:t>おもちゃへの不満：</a:t>
            </a:r>
            <a:r>
              <a:rPr lang="ja-JP" altLang="en-US" b="1" dirty="0"/>
              <a:t>①管理②飽きる③デザイン④安全性</a:t>
            </a:r>
            <a:endParaRPr kumimoji="1" lang="en-US" altLang="ja-JP" b="1" dirty="0"/>
          </a:p>
          <a:p>
            <a:r>
              <a:rPr kumimoji="1" lang="ja-JP" altLang="en-US" dirty="0"/>
              <a:t>購入満足：</a:t>
            </a:r>
            <a:r>
              <a:rPr kumimoji="1" lang="ja-JP" altLang="en-US" b="1" dirty="0"/>
              <a:t>①長く使える②楽しい③交流④成長</a:t>
            </a:r>
            <a:endParaRPr kumimoji="1" lang="en-US" altLang="ja-JP" b="1" dirty="0"/>
          </a:p>
          <a:p>
            <a:endParaRPr kumimoji="1" lang="ja-JP" altLang="en-US" dirty="0"/>
          </a:p>
        </p:txBody>
      </p:sp>
    </p:spTree>
    <p:extLst>
      <p:ext uri="{BB962C8B-B14F-4D97-AF65-F5344CB8AC3E}">
        <p14:creationId xmlns:p14="http://schemas.microsoft.com/office/powerpoint/2010/main" val="4280912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E38A73-F4B7-3F6E-B648-5C5C9B89A1BE}"/>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BB6A64FB-C235-F50C-65E1-E25AF390D50E}"/>
              </a:ext>
            </a:extLst>
          </p:cNvPr>
          <p:cNvSpPr>
            <a:spLocks noGrp="1"/>
          </p:cNvSpPr>
          <p:nvPr>
            <p:ph idx="1"/>
          </p:nvPr>
        </p:nvSpPr>
        <p:spPr/>
        <p:txBody>
          <a:bodyPr/>
          <a:lstStyle/>
          <a:p>
            <a:pPr>
              <a:lnSpc>
                <a:spcPct val="100000"/>
              </a:lnSpc>
            </a:pPr>
            <a:r>
              <a:rPr kumimoji="1" lang="ja-JP" altLang="en-US" dirty="0"/>
              <a:t>とうめいしっぽの事業に関心を持つのは、</a:t>
            </a:r>
            <a:r>
              <a:rPr kumimoji="1" lang="en-US" altLang="ja-JP" dirty="0"/>
              <a:t>3</a:t>
            </a:r>
            <a:r>
              <a:rPr kumimoji="1" lang="ja-JP" altLang="en-US" dirty="0"/>
              <a:t>才～小学生の第一子を持つ</a:t>
            </a:r>
            <a:r>
              <a:rPr kumimoji="1" lang="en-US" altLang="ja-JP" dirty="0"/>
              <a:t>30</a:t>
            </a:r>
            <a:r>
              <a:rPr kumimoji="1" lang="ja-JP" altLang="en-US" dirty="0"/>
              <a:t>～</a:t>
            </a:r>
            <a:r>
              <a:rPr kumimoji="1" lang="en-US" altLang="ja-JP" dirty="0"/>
              <a:t>40</a:t>
            </a:r>
            <a:r>
              <a:rPr lang="ja-JP" altLang="en-US" dirty="0"/>
              <a:t>代の母親が多い</a:t>
            </a:r>
            <a:endParaRPr lang="en-US" altLang="ja-JP" dirty="0"/>
          </a:p>
          <a:p>
            <a:pPr>
              <a:lnSpc>
                <a:spcPct val="100000"/>
              </a:lnSpc>
            </a:pPr>
            <a:r>
              <a:rPr kumimoji="1" lang="ja-JP" altLang="en-US" dirty="0"/>
              <a:t>森林公園等の利用は想定よりも多く、木製おもちゃも購入していて満足度も高い（イベントの特性も大きいか）</a:t>
            </a:r>
            <a:endParaRPr kumimoji="1" lang="en-US" altLang="ja-JP" dirty="0"/>
          </a:p>
          <a:p>
            <a:pPr>
              <a:lnSpc>
                <a:spcPct val="100000"/>
              </a:lnSpc>
            </a:pPr>
            <a:r>
              <a:rPr kumimoji="1" lang="ja-JP" altLang="en-US" dirty="0"/>
              <a:t>今持っているおもちゃへの不満には、管理・収納に関することや、すぐに飽きてしまうことが多く挙げられた</a:t>
            </a:r>
            <a:endParaRPr kumimoji="1" lang="en-US" altLang="ja-JP" dirty="0"/>
          </a:p>
          <a:p>
            <a:pPr>
              <a:lnSpc>
                <a:spcPct val="100000"/>
              </a:lnSpc>
            </a:pPr>
            <a:r>
              <a:rPr kumimoji="1" lang="ja-JP" altLang="en-US" dirty="0"/>
              <a:t>長く遊べることが最も多く満足につながり、ついで子ども自身が楽しんでいること、交流や成長につながることが挙がった</a:t>
            </a:r>
          </a:p>
        </p:txBody>
      </p:sp>
    </p:spTree>
    <p:extLst>
      <p:ext uri="{BB962C8B-B14F-4D97-AF65-F5344CB8AC3E}">
        <p14:creationId xmlns:p14="http://schemas.microsoft.com/office/powerpoint/2010/main" val="382434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408F5-266E-29D8-9ECD-D835E1092B2E}"/>
              </a:ext>
            </a:extLst>
          </p:cNvPr>
          <p:cNvSpPr>
            <a:spLocks noGrp="1"/>
          </p:cNvSpPr>
          <p:nvPr>
            <p:ph type="title"/>
          </p:nvPr>
        </p:nvSpPr>
        <p:spPr/>
        <p:txBody>
          <a:bodyPr/>
          <a:lstStyle/>
          <a:p>
            <a:r>
              <a:rPr kumimoji="1" lang="ja-JP" altLang="en-US" dirty="0"/>
              <a:t>事業に取り入れる点</a:t>
            </a:r>
          </a:p>
        </p:txBody>
      </p:sp>
      <p:sp>
        <p:nvSpPr>
          <p:cNvPr id="3" name="コンテンツ プレースホルダー 2">
            <a:extLst>
              <a:ext uri="{FF2B5EF4-FFF2-40B4-BE49-F238E27FC236}">
                <a16:creationId xmlns:a16="http://schemas.microsoft.com/office/drawing/2014/main" id="{27DFAE47-0C34-7AFF-BC36-E7017D6500F5}"/>
              </a:ext>
            </a:extLst>
          </p:cNvPr>
          <p:cNvSpPr>
            <a:spLocks noGrp="1"/>
          </p:cNvSpPr>
          <p:nvPr>
            <p:ph idx="1"/>
          </p:nvPr>
        </p:nvSpPr>
        <p:spPr/>
        <p:txBody>
          <a:bodyPr/>
          <a:lstStyle/>
          <a:p>
            <a:pPr>
              <a:lnSpc>
                <a:spcPts val="3500"/>
              </a:lnSpc>
            </a:pPr>
            <a:r>
              <a:rPr kumimoji="1" lang="ja-JP" altLang="en-US" dirty="0"/>
              <a:t>ターゲットには、これからファースト・トイを購入する層をメインとしたい→木育に関心を持つ</a:t>
            </a:r>
            <a:r>
              <a:rPr kumimoji="1" lang="en-US" altLang="ja-JP" dirty="0"/>
              <a:t>20</a:t>
            </a:r>
            <a:r>
              <a:rPr kumimoji="1" lang="ja-JP" altLang="en-US" dirty="0"/>
              <a:t>～</a:t>
            </a:r>
            <a:r>
              <a:rPr lang="en-US" altLang="ja-JP" dirty="0"/>
              <a:t>4</a:t>
            </a:r>
            <a:r>
              <a:rPr kumimoji="1" lang="en-US" altLang="ja-JP" dirty="0"/>
              <a:t>0</a:t>
            </a:r>
            <a:r>
              <a:rPr kumimoji="1" lang="ja-JP" altLang="en-US" dirty="0"/>
              <a:t>代ママ・プレママ</a:t>
            </a:r>
            <a:endParaRPr kumimoji="1" lang="en-US" altLang="ja-JP" dirty="0"/>
          </a:p>
          <a:p>
            <a:pPr>
              <a:lnSpc>
                <a:spcPts val="3500"/>
              </a:lnSpc>
            </a:pPr>
            <a:r>
              <a:rPr lang="ja-JP" altLang="en-US" dirty="0"/>
              <a:t>安全性はもちろんのこと、管理・収納しやすさにも注力し、引き続き乳幼児期から遊べて、卒業したら暮らしの道具として使い続けられるロングライフ・タイムレスな商品を目指す</a:t>
            </a:r>
            <a:endParaRPr lang="en-US" altLang="ja-JP" dirty="0"/>
          </a:p>
          <a:p>
            <a:pPr>
              <a:lnSpc>
                <a:spcPts val="3500"/>
              </a:lnSpc>
            </a:pPr>
            <a:r>
              <a:rPr lang="ja-JP" altLang="en-US" dirty="0"/>
              <a:t>子どもが楽しく遊べるか、自分で遊びを広げていけるかは大事な指標として随時チェックしていく</a:t>
            </a:r>
            <a:endParaRPr lang="en-US" altLang="ja-JP" dirty="0"/>
          </a:p>
          <a:p>
            <a:pPr>
              <a:lnSpc>
                <a:spcPts val="3500"/>
              </a:lnSpc>
            </a:pPr>
            <a:endParaRPr kumimoji="1" lang="en-US" altLang="ja-JP" dirty="0"/>
          </a:p>
          <a:p>
            <a:pPr>
              <a:lnSpc>
                <a:spcPts val="3500"/>
              </a:lnSpc>
            </a:pPr>
            <a:endParaRPr kumimoji="1" lang="ja-JP" altLang="en-US" dirty="0"/>
          </a:p>
        </p:txBody>
      </p:sp>
    </p:spTree>
    <p:extLst>
      <p:ext uri="{BB962C8B-B14F-4D97-AF65-F5344CB8AC3E}">
        <p14:creationId xmlns:p14="http://schemas.microsoft.com/office/powerpoint/2010/main" val="5391392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848</Words>
  <Application>Microsoft Office PowerPoint</Application>
  <PresentationFormat>ワイド画面</PresentationFormat>
  <Paragraphs>132</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游ゴシック</vt:lpstr>
      <vt:lpstr>游ゴシック Light</vt:lpstr>
      <vt:lpstr>Arial</vt:lpstr>
      <vt:lpstr>Office テーマ</vt:lpstr>
      <vt:lpstr>ZOOMOイベント アンケート結果</vt:lpstr>
      <vt:lpstr>1.居住地域</vt:lpstr>
      <vt:lpstr>2.回答者の年代</vt:lpstr>
      <vt:lpstr>3.第一子の年代</vt:lpstr>
      <vt:lpstr>4.森林公園等の利用回数</vt:lpstr>
      <vt:lpstr>5.木製おもちゃの購入状況</vt:lpstr>
      <vt:lpstr>6.手持ちの木製おもちゃの満足度</vt:lpstr>
      <vt:lpstr>7.持っているおもちゃへの不満</vt:lpstr>
      <vt:lpstr>8.「買ってよかった」と思うとき</vt:lpstr>
      <vt:lpstr>まとめ</vt:lpstr>
      <vt:lpstr>考察</vt:lpstr>
      <vt:lpstr>事業に取り入れる点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紗希 新田</dc:creator>
  <cp:lastModifiedBy>紗希 新田</cp:lastModifiedBy>
  <cp:revision>3</cp:revision>
  <dcterms:created xsi:type="dcterms:W3CDTF">2024-11-20T00:47:53Z</dcterms:created>
  <dcterms:modified xsi:type="dcterms:W3CDTF">2024-11-20T02:04:42Z</dcterms:modified>
</cp:coreProperties>
</file>